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Times New Roman" charset="1" panose="02020603050405020304"/>
      <p:regular r:id="rId31"/>
    </p:embeddedFont>
    <p:embeddedFont>
      <p:font typeface="Times New Roman Bold" charset="1" panose="020208030705050203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45608" y="2568481"/>
            <a:ext cx="14790529" cy="2706584"/>
          </a:xfrm>
          <a:prstGeom prst="rect">
            <a:avLst/>
          </a:prstGeom>
        </p:spPr>
        <p:txBody>
          <a:bodyPr anchor="t" rtlCol="false" tIns="0" lIns="0" bIns="0" rIns="0">
            <a:spAutoFit/>
          </a:bodyPr>
          <a:lstStyle/>
          <a:p>
            <a:pPr algn="ctr">
              <a:lnSpc>
                <a:spcPts val="10117"/>
              </a:lnSpc>
            </a:pPr>
            <a:r>
              <a:rPr lang="en-US" sz="10650">
                <a:solidFill>
                  <a:srgbClr val="0C5BA6"/>
                </a:solidFill>
                <a:latin typeface="Times New Roman"/>
                <a:ea typeface="Times New Roman"/>
                <a:cs typeface="Times New Roman"/>
                <a:sym typeface="Times New Roman"/>
              </a:rPr>
              <a:t>MOVIE TICKET BOOKING SYSTEM</a:t>
            </a:r>
          </a:p>
        </p:txBody>
      </p:sp>
      <p:sp>
        <p:nvSpPr>
          <p:cNvPr name="Freeform 3" id="3"/>
          <p:cNvSpPr/>
          <p:nvPr/>
        </p:nvSpPr>
        <p:spPr>
          <a:xfrm flipH="false" flipV="false" rot="0">
            <a:off x="0" y="68331"/>
            <a:ext cx="18288000" cy="1536979"/>
          </a:xfrm>
          <a:custGeom>
            <a:avLst/>
            <a:gdLst/>
            <a:ahLst/>
            <a:cxnLst/>
            <a:rect r="r" b="b" t="t" l="l"/>
            <a:pathLst>
              <a:path h="1536979" w="18288000">
                <a:moveTo>
                  <a:pt x="0" y="0"/>
                </a:moveTo>
                <a:lnTo>
                  <a:pt x="18288000" y="0"/>
                </a:lnTo>
                <a:lnTo>
                  <a:pt x="18288000" y="1536979"/>
                </a:lnTo>
                <a:lnTo>
                  <a:pt x="0" y="1536979"/>
                </a:lnTo>
                <a:lnTo>
                  <a:pt x="0" y="0"/>
                </a:lnTo>
                <a:close/>
              </a:path>
            </a:pathLst>
          </a:custGeom>
          <a:blipFill>
            <a:blip r:embed="rId2"/>
            <a:stretch>
              <a:fillRect l="-1689" t="-5129" r="0" b="-3011"/>
            </a:stretch>
          </a:blipFill>
        </p:spPr>
      </p:sp>
      <p:sp>
        <p:nvSpPr>
          <p:cNvPr name="TextBox 4" id="4"/>
          <p:cNvSpPr txBox="true"/>
          <p:nvPr/>
        </p:nvSpPr>
        <p:spPr>
          <a:xfrm rot="0">
            <a:off x="3670577" y="5933437"/>
            <a:ext cx="11974682" cy="771340"/>
          </a:xfrm>
          <a:prstGeom prst="rect">
            <a:avLst/>
          </a:prstGeom>
        </p:spPr>
        <p:txBody>
          <a:bodyPr anchor="t" rtlCol="false" tIns="0" lIns="0" bIns="0" rIns="0">
            <a:spAutoFit/>
          </a:bodyPr>
          <a:lstStyle/>
          <a:p>
            <a:pPr algn="ctr">
              <a:lnSpc>
                <a:spcPts val="6178"/>
              </a:lnSpc>
              <a:spcBef>
                <a:spcPct val="0"/>
              </a:spcBef>
            </a:pPr>
            <a:r>
              <a:rPr lang="en-US" sz="4413">
                <a:solidFill>
                  <a:srgbClr val="0C5BA6"/>
                </a:solidFill>
                <a:latin typeface="Times New Roman"/>
                <a:ea typeface="Times New Roman"/>
                <a:cs typeface="Times New Roman"/>
                <a:sym typeface="Times New Roman"/>
              </a:rPr>
              <a:t>PROGRAMMING IN PYTHON - CSA0801</a:t>
            </a:r>
          </a:p>
        </p:txBody>
      </p:sp>
      <p:sp>
        <p:nvSpPr>
          <p:cNvPr name="TextBox 5" id="5"/>
          <p:cNvSpPr txBox="true"/>
          <p:nvPr/>
        </p:nvSpPr>
        <p:spPr>
          <a:xfrm rot="0">
            <a:off x="4467540" y="5293666"/>
            <a:ext cx="9809467" cy="744546"/>
          </a:xfrm>
          <a:prstGeom prst="rect">
            <a:avLst/>
          </a:prstGeom>
        </p:spPr>
        <p:txBody>
          <a:bodyPr anchor="t" rtlCol="false" tIns="0" lIns="0" bIns="0" rIns="0">
            <a:spAutoFit/>
          </a:bodyPr>
          <a:lstStyle/>
          <a:p>
            <a:pPr algn="ctr">
              <a:lnSpc>
                <a:spcPts val="5903"/>
              </a:lnSpc>
              <a:spcBef>
                <a:spcPct val="0"/>
              </a:spcBef>
            </a:pPr>
            <a:r>
              <a:rPr lang="en-US" b="true" sz="4217">
                <a:solidFill>
                  <a:srgbClr val="0C5BA6"/>
                </a:solidFill>
                <a:latin typeface="Times New Roman Bold"/>
                <a:ea typeface="Times New Roman Bold"/>
                <a:cs typeface="Times New Roman Bold"/>
                <a:sym typeface="Times New Roman Bold"/>
              </a:rPr>
              <a:t>CAPSTONE PROJECT PRESENTATION</a:t>
            </a:r>
          </a:p>
        </p:txBody>
      </p:sp>
      <p:sp>
        <p:nvSpPr>
          <p:cNvPr name="TextBox 6" id="6"/>
          <p:cNvSpPr txBox="true"/>
          <p:nvPr/>
        </p:nvSpPr>
        <p:spPr>
          <a:xfrm rot="0">
            <a:off x="12876095" y="7195314"/>
            <a:ext cx="7320085" cy="3658507"/>
          </a:xfrm>
          <a:prstGeom prst="rect">
            <a:avLst/>
          </a:prstGeom>
        </p:spPr>
        <p:txBody>
          <a:bodyPr anchor="t" rtlCol="false" tIns="0" lIns="0" bIns="0" rIns="0">
            <a:spAutoFit/>
          </a:bodyPr>
          <a:lstStyle/>
          <a:p>
            <a:pPr algn="l">
              <a:lnSpc>
                <a:spcPts val="3639"/>
              </a:lnSpc>
              <a:spcBef>
                <a:spcPct val="0"/>
              </a:spcBef>
            </a:pPr>
            <a:r>
              <a:rPr lang="en-US" sz="2599">
                <a:solidFill>
                  <a:srgbClr val="0C5BA6"/>
                </a:solidFill>
                <a:latin typeface="Times New Roman"/>
                <a:ea typeface="Times New Roman"/>
                <a:cs typeface="Times New Roman"/>
                <a:sym typeface="Times New Roman"/>
              </a:rPr>
              <a:t>PRESENTED BY:</a:t>
            </a:r>
          </a:p>
          <a:p>
            <a:pPr algn="l">
              <a:lnSpc>
                <a:spcPts val="3639"/>
              </a:lnSpc>
              <a:spcBef>
                <a:spcPct val="0"/>
              </a:spcBef>
            </a:pPr>
            <a:r>
              <a:rPr lang="en-US" sz="2599">
                <a:solidFill>
                  <a:srgbClr val="0C5BA6"/>
                </a:solidFill>
                <a:latin typeface="Times New Roman"/>
                <a:ea typeface="Times New Roman"/>
                <a:cs typeface="Times New Roman"/>
                <a:sym typeface="Times New Roman"/>
              </a:rPr>
              <a:t>S.AARATHANA - 1921260021</a:t>
            </a:r>
          </a:p>
          <a:p>
            <a:pPr algn="l">
              <a:lnSpc>
                <a:spcPts val="3639"/>
              </a:lnSpc>
              <a:spcBef>
                <a:spcPct val="0"/>
              </a:spcBef>
            </a:pPr>
            <a:r>
              <a:rPr lang="en-US" sz="2599">
                <a:solidFill>
                  <a:srgbClr val="0C5BA6"/>
                </a:solidFill>
                <a:latin typeface="Times New Roman"/>
                <a:ea typeface="Times New Roman"/>
                <a:cs typeface="Times New Roman"/>
                <a:sym typeface="Times New Roman"/>
              </a:rPr>
              <a:t>AYESHA SIDDIQUA A - 1911260141</a:t>
            </a:r>
          </a:p>
          <a:p>
            <a:pPr algn="l">
              <a:lnSpc>
                <a:spcPts val="3639"/>
              </a:lnSpc>
              <a:spcBef>
                <a:spcPct val="0"/>
              </a:spcBef>
            </a:pPr>
          </a:p>
          <a:p>
            <a:pPr algn="l">
              <a:lnSpc>
                <a:spcPts val="3639"/>
              </a:lnSpc>
              <a:spcBef>
                <a:spcPct val="0"/>
              </a:spcBef>
            </a:pPr>
          </a:p>
          <a:p>
            <a:pPr algn="l">
              <a:lnSpc>
                <a:spcPts val="3639"/>
              </a:lnSpc>
              <a:spcBef>
                <a:spcPct val="0"/>
              </a:spcBef>
            </a:pPr>
          </a:p>
          <a:p>
            <a:pPr algn="l">
              <a:lnSpc>
                <a:spcPts val="3639"/>
              </a:lnSpc>
              <a:spcBef>
                <a:spcPct val="0"/>
              </a:spcBef>
            </a:pPr>
          </a:p>
          <a:p>
            <a:pPr algn="l">
              <a:lnSpc>
                <a:spcPts val="3639"/>
              </a:lnSpc>
              <a:spcBef>
                <a:spcPct val="0"/>
              </a:spcBef>
            </a:pPr>
            <a:r>
              <a:rPr lang="en-US" sz="2599">
                <a:solidFill>
                  <a:srgbClr val="0C5BA6"/>
                </a:solidFill>
                <a:latin typeface="Times New Roman"/>
                <a:ea typeface="Times New Roman"/>
                <a:cs typeface="Times New Roman"/>
                <a:sym typeface="Times New Roman"/>
              </a:rPr>
              <a:t> </a:t>
            </a:r>
          </a:p>
        </p:txBody>
      </p:sp>
      <p:sp>
        <p:nvSpPr>
          <p:cNvPr name="TextBox 7" id="7"/>
          <p:cNvSpPr txBox="true"/>
          <p:nvPr/>
        </p:nvSpPr>
        <p:spPr>
          <a:xfrm rot="0">
            <a:off x="349530" y="7754700"/>
            <a:ext cx="4159948" cy="1503600"/>
          </a:xfrm>
          <a:prstGeom prst="rect">
            <a:avLst/>
          </a:prstGeom>
        </p:spPr>
        <p:txBody>
          <a:bodyPr anchor="t" rtlCol="false" tIns="0" lIns="0" bIns="0" rIns="0">
            <a:spAutoFit/>
          </a:bodyPr>
          <a:lstStyle/>
          <a:p>
            <a:pPr algn="l">
              <a:lnSpc>
                <a:spcPts val="3977"/>
              </a:lnSpc>
              <a:spcBef>
                <a:spcPct val="0"/>
              </a:spcBef>
            </a:pPr>
            <a:r>
              <a:rPr lang="en-US" sz="2841">
                <a:solidFill>
                  <a:srgbClr val="0C5BA6"/>
                </a:solidFill>
                <a:latin typeface="Times New Roman"/>
                <a:ea typeface="Times New Roman"/>
                <a:cs typeface="Times New Roman"/>
                <a:sym typeface="Times New Roman"/>
              </a:rPr>
              <a:t>GUIDED BY: </a:t>
            </a:r>
          </a:p>
          <a:p>
            <a:pPr algn="l">
              <a:lnSpc>
                <a:spcPts val="3977"/>
              </a:lnSpc>
              <a:spcBef>
                <a:spcPct val="0"/>
              </a:spcBef>
            </a:pPr>
            <a:r>
              <a:rPr lang="en-US" sz="2841">
                <a:solidFill>
                  <a:srgbClr val="0C5BA6"/>
                </a:solidFill>
                <a:latin typeface="Times New Roman"/>
                <a:ea typeface="Times New Roman"/>
                <a:cs typeface="Times New Roman"/>
                <a:sym typeface="Times New Roman"/>
              </a:rPr>
              <a:t>BY:</a:t>
            </a:r>
          </a:p>
          <a:p>
            <a:pPr algn="l">
              <a:lnSpc>
                <a:spcPts val="3977"/>
              </a:lnSpc>
              <a:spcBef>
                <a:spcPct val="0"/>
              </a:spcBef>
            </a:pPr>
            <a:r>
              <a:rPr lang="en-US" sz="2841">
                <a:solidFill>
                  <a:srgbClr val="0C5BA6"/>
                </a:solidFill>
                <a:latin typeface="Times New Roman"/>
                <a:ea typeface="Times New Roman"/>
                <a:cs typeface="Times New Roman"/>
                <a:sym typeface="Times New Roman"/>
              </a:rPr>
              <a:t>DR.SAMSON EBENEZAR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54097" y="283708"/>
            <a:ext cx="8077399"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INTRODUCTION</a:t>
            </a:r>
          </a:p>
        </p:txBody>
      </p:sp>
      <p:sp>
        <p:nvSpPr>
          <p:cNvPr name="TextBox 3" id="3"/>
          <p:cNvSpPr txBox="true"/>
          <p:nvPr/>
        </p:nvSpPr>
        <p:spPr>
          <a:xfrm rot="0">
            <a:off x="1166051" y="2450290"/>
            <a:ext cx="16065949" cy="6513552"/>
          </a:xfrm>
          <a:prstGeom prst="rect">
            <a:avLst/>
          </a:prstGeom>
        </p:spPr>
        <p:txBody>
          <a:bodyPr anchor="t" rtlCol="false" tIns="0" lIns="0" bIns="0" rIns="0">
            <a:spAutoFit/>
          </a:bodyPr>
          <a:lstStyle/>
          <a:p>
            <a:pPr algn="l">
              <a:lnSpc>
                <a:spcPts val="5820"/>
              </a:lnSpc>
            </a:pPr>
            <a:r>
              <a:rPr lang="en-US" sz="3000">
                <a:solidFill>
                  <a:srgbClr val="000D43"/>
                </a:solidFill>
                <a:latin typeface="Times New Roman"/>
                <a:ea typeface="Times New Roman"/>
                <a:cs typeface="Times New Roman"/>
                <a:sym typeface="Times New Roman"/>
              </a:rPr>
              <a:t>The Movie Ticket Booking System is a menu-driven application developed using Python. It uses a MySQL database to store movie details and ticket booking information.</a:t>
            </a:r>
          </a:p>
          <a:p>
            <a:pPr algn="l">
              <a:lnSpc>
                <a:spcPts val="5820"/>
              </a:lnSpc>
            </a:pPr>
            <a:r>
              <a:rPr lang="en-US" sz="3000">
                <a:solidFill>
                  <a:srgbClr val="000D43"/>
                </a:solidFill>
                <a:latin typeface="Times New Roman"/>
                <a:ea typeface="Times New Roman"/>
                <a:cs typeface="Times New Roman"/>
                <a:sym typeface="Times New Roman"/>
              </a:rPr>
              <a:t> The system allows the user to:</a:t>
            </a:r>
          </a:p>
          <a:p>
            <a:pPr algn="l" marL="647702" indent="-323851" lvl="1">
              <a:lnSpc>
                <a:spcPts val="5820"/>
              </a:lnSpc>
              <a:buFont typeface="Arial"/>
              <a:buChar char="•"/>
            </a:pPr>
            <a:r>
              <a:rPr lang="en-US" sz="3000">
                <a:solidFill>
                  <a:srgbClr val="000D43"/>
                </a:solidFill>
                <a:latin typeface="Times New Roman"/>
                <a:ea typeface="Times New Roman"/>
                <a:cs typeface="Times New Roman"/>
                <a:sym typeface="Times New Roman"/>
              </a:rPr>
              <a:t>View the list of available movies</a:t>
            </a:r>
          </a:p>
          <a:p>
            <a:pPr algn="l" marL="647702" indent="-323851" lvl="1">
              <a:lnSpc>
                <a:spcPts val="5820"/>
              </a:lnSpc>
              <a:buFont typeface="Arial"/>
              <a:buChar char="•"/>
            </a:pPr>
            <a:r>
              <a:rPr lang="en-US" sz="3000">
                <a:solidFill>
                  <a:srgbClr val="000D43"/>
                </a:solidFill>
                <a:latin typeface="Times New Roman"/>
                <a:ea typeface="Times New Roman"/>
                <a:cs typeface="Times New Roman"/>
                <a:sym typeface="Times New Roman"/>
              </a:rPr>
              <a:t>Book tickets for a selected movie</a:t>
            </a:r>
          </a:p>
          <a:p>
            <a:pPr algn="l" marL="647702" indent="-323851" lvl="1">
              <a:lnSpc>
                <a:spcPts val="5820"/>
              </a:lnSpc>
              <a:buFont typeface="Arial"/>
              <a:buChar char="•"/>
            </a:pPr>
            <a:r>
              <a:rPr lang="en-US" sz="3000">
                <a:solidFill>
                  <a:srgbClr val="000D43"/>
                </a:solidFill>
                <a:latin typeface="Times New Roman"/>
                <a:ea typeface="Times New Roman"/>
                <a:cs typeface="Times New Roman"/>
                <a:sym typeface="Times New Roman"/>
              </a:rPr>
              <a:t>Automatically calculate the total ticket amount</a:t>
            </a:r>
          </a:p>
          <a:p>
            <a:pPr algn="l">
              <a:lnSpc>
                <a:spcPts val="5820"/>
              </a:lnSpc>
            </a:pPr>
            <a:r>
              <a:rPr lang="en-US" sz="3000">
                <a:solidFill>
                  <a:srgbClr val="000D43"/>
                </a:solidFill>
                <a:latin typeface="Times New Roman"/>
                <a:ea typeface="Times New Roman"/>
                <a:cs typeface="Times New Roman"/>
                <a:sym typeface="Times New Roman"/>
              </a:rPr>
              <a:t>All data is </a:t>
            </a:r>
            <a:r>
              <a:rPr lang="en-US" sz="3000">
                <a:solidFill>
                  <a:srgbClr val="000D43"/>
                </a:solidFill>
                <a:latin typeface="Times New Roman"/>
                <a:ea typeface="Times New Roman"/>
                <a:cs typeface="Times New Roman"/>
                <a:sym typeface="Times New Roman"/>
              </a:rPr>
              <a:t>sto</a:t>
            </a:r>
            <a:r>
              <a:rPr lang="en-US" sz="3000">
                <a:solidFill>
                  <a:srgbClr val="000D43"/>
                </a:solidFill>
                <a:latin typeface="Times New Roman"/>
                <a:ea typeface="Times New Roman"/>
                <a:cs typeface="Times New Roman"/>
                <a:sym typeface="Times New Roman"/>
              </a:rPr>
              <a:t>re</a:t>
            </a:r>
            <a:r>
              <a:rPr lang="en-US" sz="3000">
                <a:solidFill>
                  <a:srgbClr val="000D43"/>
                </a:solidFill>
                <a:latin typeface="Times New Roman"/>
                <a:ea typeface="Times New Roman"/>
                <a:cs typeface="Times New Roman"/>
                <a:sym typeface="Times New Roman"/>
              </a:rPr>
              <a:t>d</a:t>
            </a:r>
            <a:r>
              <a:rPr lang="en-US" sz="3000">
                <a:solidFill>
                  <a:srgbClr val="000D43"/>
                </a:solidFill>
                <a:latin typeface="Times New Roman"/>
                <a:ea typeface="Times New Roman"/>
                <a:cs typeface="Times New Roman"/>
                <a:sym typeface="Times New Roman"/>
              </a:rPr>
              <a:t> </a:t>
            </a:r>
            <a:r>
              <a:rPr lang="en-US" sz="3000">
                <a:solidFill>
                  <a:srgbClr val="000D43"/>
                </a:solidFill>
                <a:latin typeface="Times New Roman"/>
                <a:ea typeface="Times New Roman"/>
                <a:cs typeface="Times New Roman"/>
                <a:sym typeface="Times New Roman"/>
              </a:rPr>
              <a:t>s</a:t>
            </a:r>
            <a:r>
              <a:rPr lang="en-US" sz="3000">
                <a:solidFill>
                  <a:srgbClr val="000D43"/>
                </a:solidFill>
                <a:latin typeface="Times New Roman"/>
                <a:ea typeface="Times New Roman"/>
                <a:cs typeface="Times New Roman"/>
                <a:sym typeface="Times New Roman"/>
              </a:rPr>
              <a:t>ec</a:t>
            </a:r>
            <a:r>
              <a:rPr lang="en-US" sz="3000">
                <a:solidFill>
                  <a:srgbClr val="000D43"/>
                </a:solidFill>
                <a:latin typeface="Times New Roman"/>
                <a:ea typeface="Times New Roman"/>
                <a:cs typeface="Times New Roman"/>
                <a:sym typeface="Times New Roman"/>
              </a:rPr>
              <a:t>u</a:t>
            </a:r>
            <a:r>
              <a:rPr lang="en-US" sz="3000">
                <a:solidFill>
                  <a:srgbClr val="000D43"/>
                </a:solidFill>
                <a:latin typeface="Times New Roman"/>
                <a:ea typeface="Times New Roman"/>
                <a:cs typeface="Times New Roman"/>
                <a:sym typeface="Times New Roman"/>
              </a:rPr>
              <a:t>re</a:t>
            </a:r>
            <a:r>
              <a:rPr lang="en-US" sz="3000">
                <a:solidFill>
                  <a:srgbClr val="000D43"/>
                </a:solidFill>
                <a:latin typeface="Times New Roman"/>
                <a:ea typeface="Times New Roman"/>
                <a:cs typeface="Times New Roman"/>
                <a:sym typeface="Times New Roman"/>
              </a:rPr>
              <a:t>ly in</a:t>
            </a:r>
            <a:r>
              <a:rPr lang="en-US" sz="3000">
                <a:solidFill>
                  <a:srgbClr val="000D43"/>
                </a:solidFill>
                <a:latin typeface="Times New Roman"/>
                <a:ea typeface="Times New Roman"/>
                <a:cs typeface="Times New Roman"/>
                <a:sym typeface="Times New Roman"/>
              </a:rPr>
              <a:t> th</a:t>
            </a:r>
            <a:r>
              <a:rPr lang="en-US" sz="3000">
                <a:solidFill>
                  <a:srgbClr val="000D43"/>
                </a:solidFill>
                <a:latin typeface="Times New Roman"/>
                <a:ea typeface="Times New Roman"/>
                <a:cs typeface="Times New Roman"/>
                <a:sym typeface="Times New Roman"/>
              </a:rPr>
              <a:t>e d</a:t>
            </a:r>
            <a:r>
              <a:rPr lang="en-US" sz="3000">
                <a:solidFill>
                  <a:srgbClr val="000D43"/>
                </a:solidFill>
                <a:latin typeface="Times New Roman"/>
                <a:ea typeface="Times New Roman"/>
                <a:cs typeface="Times New Roman"/>
                <a:sym typeface="Times New Roman"/>
              </a:rPr>
              <a:t>at</a:t>
            </a:r>
            <a:r>
              <a:rPr lang="en-US" sz="3000">
                <a:solidFill>
                  <a:srgbClr val="000D43"/>
                </a:solidFill>
                <a:latin typeface="Times New Roman"/>
                <a:ea typeface="Times New Roman"/>
                <a:cs typeface="Times New Roman"/>
                <a:sym typeface="Times New Roman"/>
              </a:rPr>
              <a:t>abase,</a:t>
            </a:r>
            <a:r>
              <a:rPr lang="en-US" sz="3000">
                <a:solidFill>
                  <a:srgbClr val="000D43"/>
                </a:solidFill>
                <a:latin typeface="Times New Roman"/>
                <a:ea typeface="Times New Roman"/>
                <a:cs typeface="Times New Roman"/>
                <a:sym typeface="Times New Roman"/>
              </a:rPr>
              <a:t> re</a:t>
            </a:r>
            <a:r>
              <a:rPr lang="en-US" sz="3000">
                <a:solidFill>
                  <a:srgbClr val="000D43"/>
                </a:solidFill>
                <a:latin typeface="Times New Roman"/>
                <a:ea typeface="Times New Roman"/>
                <a:cs typeface="Times New Roman"/>
                <a:sym typeface="Times New Roman"/>
              </a:rPr>
              <a:t>d</a:t>
            </a:r>
            <a:r>
              <a:rPr lang="en-US" sz="3000">
                <a:solidFill>
                  <a:srgbClr val="000D43"/>
                </a:solidFill>
                <a:latin typeface="Times New Roman"/>
                <a:ea typeface="Times New Roman"/>
                <a:cs typeface="Times New Roman"/>
                <a:sym typeface="Times New Roman"/>
              </a:rPr>
              <a:t>u</a:t>
            </a:r>
            <a:r>
              <a:rPr lang="en-US" sz="3000">
                <a:solidFill>
                  <a:srgbClr val="000D43"/>
                </a:solidFill>
                <a:latin typeface="Times New Roman"/>
                <a:ea typeface="Times New Roman"/>
                <a:cs typeface="Times New Roman"/>
                <a:sym typeface="Times New Roman"/>
              </a:rPr>
              <a:t>c</a:t>
            </a:r>
            <a:r>
              <a:rPr lang="en-US" sz="3000">
                <a:solidFill>
                  <a:srgbClr val="000D43"/>
                </a:solidFill>
                <a:latin typeface="Times New Roman"/>
                <a:ea typeface="Times New Roman"/>
                <a:cs typeface="Times New Roman"/>
                <a:sym typeface="Times New Roman"/>
              </a:rPr>
              <a:t>ing manual work and errors. This project shows how Python programs can interact with databases to perform real-time operations.</a:t>
            </a:r>
          </a:p>
          <a:p>
            <a:pPr algn="l">
              <a:lnSpc>
                <a:spcPts val="5820"/>
              </a:lnSpc>
            </a:pPr>
          </a:p>
        </p:txBody>
      </p:sp>
      <p:sp>
        <p:nvSpPr>
          <p:cNvPr name="Freeform 4" id="4"/>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2"/>
            <a:stretch>
              <a:fillRect l="0" t="0" r="0" b="0"/>
            </a:stretch>
          </a:blipFill>
        </p:spPr>
      </p:sp>
      <p:sp>
        <p:nvSpPr>
          <p:cNvPr name="Freeform 5" id="5"/>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1562702" y="2934208"/>
            <a:ext cx="20867617" cy="5008774"/>
          </a:xfrm>
          <a:prstGeom prst="rect">
            <a:avLst/>
          </a:prstGeom>
        </p:spPr>
        <p:txBody>
          <a:bodyPr anchor="t" rtlCol="false" tIns="0" lIns="0" bIns="0" rIns="0">
            <a:spAutoFit/>
          </a:bodyPr>
          <a:lstStyle/>
          <a:p>
            <a:pPr algn="just" marL="647702" indent="-323851" lvl="1">
              <a:lnSpc>
                <a:spcPts val="5040"/>
              </a:lnSpc>
              <a:buFont typeface="Arial"/>
              <a:buChar char="•"/>
            </a:pPr>
            <a:r>
              <a:rPr lang="en-US" sz="3000">
                <a:solidFill>
                  <a:srgbClr val="000D43"/>
                </a:solidFill>
                <a:latin typeface="Times New Roman"/>
                <a:ea typeface="Times New Roman"/>
                <a:cs typeface="Times New Roman"/>
                <a:sym typeface="Times New Roman"/>
              </a:rPr>
              <a:t>To manage movie details using a MySQL database.</a:t>
            </a:r>
          </a:p>
          <a:p>
            <a:pPr algn="just" marL="647702" indent="-323851" lvl="1">
              <a:lnSpc>
                <a:spcPts val="5040"/>
              </a:lnSpc>
              <a:buFont typeface="Arial"/>
              <a:buChar char="•"/>
            </a:pPr>
            <a:r>
              <a:rPr lang="en-US" sz="3000">
                <a:solidFill>
                  <a:srgbClr val="000D43"/>
                </a:solidFill>
                <a:latin typeface="Times New Roman"/>
                <a:ea typeface="Times New Roman"/>
                <a:cs typeface="Times New Roman"/>
                <a:sym typeface="Times New Roman"/>
              </a:rPr>
              <a:t>To search, add, update, and delete movie records.</a:t>
            </a:r>
          </a:p>
          <a:p>
            <a:pPr algn="just" marL="647702" indent="-323851" lvl="1">
              <a:lnSpc>
                <a:spcPts val="5040"/>
              </a:lnSpc>
              <a:buFont typeface="Arial"/>
              <a:buChar char="•"/>
            </a:pPr>
            <a:r>
              <a:rPr lang="en-US" sz="3000">
                <a:solidFill>
                  <a:srgbClr val="000D43"/>
                </a:solidFill>
                <a:latin typeface="Times New Roman"/>
                <a:ea typeface="Times New Roman"/>
                <a:cs typeface="Times New Roman"/>
                <a:sym typeface="Times New Roman"/>
              </a:rPr>
              <a:t>To book and cancel movie tickets easily.</a:t>
            </a:r>
          </a:p>
          <a:p>
            <a:pPr algn="just" marL="647702" indent="-323851" lvl="1">
              <a:lnSpc>
                <a:spcPts val="5040"/>
              </a:lnSpc>
              <a:buFont typeface="Arial"/>
              <a:buChar char="•"/>
            </a:pPr>
            <a:r>
              <a:rPr lang="en-US" sz="3000">
                <a:solidFill>
                  <a:srgbClr val="000D43"/>
                </a:solidFill>
                <a:latin typeface="Times New Roman"/>
                <a:ea typeface="Times New Roman"/>
                <a:cs typeface="Times New Roman"/>
                <a:sym typeface="Times New Roman"/>
              </a:rPr>
              <a:t>To manage snack orders along with movie bookings.</a:t>
            </a:r>
          </a:p>
          <a:p>
            <a:pPr algn="just" marL="647702" indent="-323851" lvl="1">
              <a:lnSpc>
                <a:spcPts val="5040"/>
              </a:lnSpc>
              <a:buFont typeface="Arial"/>
              <a:buChar char="•"/>
            </a:pPr>
            <a:r>
              <a:rPr lang="en-US" sz="3000">
                <a:solidFill>
                  <a:srgbClr val="000D43"/>
                </a:solidFill>
                <a:latin typeface="Times New Roman"/>
                <a:ea typeface="Times New Roman"/>
                <a:cs typeface="Times New Roman"/>
                <a:sym typeface="Times New Roman"/>
              </a:rPr>
              <a:t>To calculate movie, snack, and combined bills.</a:t>
            </a:r>
          </a:p>
          <a:p>
            <a:pPr algn="just" marL="647702" indent="-323851" lvl="1">
              <a:lnSpc>
                <a:spcPts val="5040"/>
              </a:lnSpc>
              <a:buFont typeface="Arial"/>
              <a:buChar char="•"/>
            </a:pPr>
            <a:r>
              <a:rPr lang="en-US" sz="3000">
                <a:solidFill>
                  <a:srgbClr val="000D43"/>
                </a:solidFill>
                <a:latin typeface="Times New Roman"/>
                <a:ea typeface="Times New Roman"/>
                <a:cs typeface="Times New Roman"/>
                <a:sym typeface="Times New Roman"/>
              </a:rPr>
              <a:t>To identify most-watched and top movies based on bookings.</a:t>
            </a:r>
          </a:p>
          <a:p>
            <a:pPr algn="just" marL="647702" indent="-323851" lvl="1">
              <a:lnSpc>
                <a:spcPts val="5040"/>
              </a:lnSpc>
              <a:buFont typeface="Arial"/>
              <a:buChar char="•"/>
            </a:pPr>
            <a:r>
              <a:rPr lang="en-US" sz="3000">
                <a:solidFill>
                  <a:srgbClr val="000D43"/>
                </a:solidFill>
                <a:latin typeface="Times New Roman"/>
                <a:ea typeface="Times New Roman"/>
                <a:cs typeface="Times New Roman"/>
                <a:sym typeface="Times New Roman"/>
              </a:rPr>
              <a:t>To demonstrate Python–MySQL connectivity and database operations.</a:t>
            </a:r>
          </a:p>
          <a:p>
            <a:pPr algn="just">
              <a:lnSpc>
                <a:spcPts val="5040"/>
              </a:lnSpc>
            </a:pPr>
          </a:p>
        </p:txBody>
      </p:sp>
      <p:sp>
        <p:nvSpPr>
          <p:cNvPr name="TextBox 5" id="5"/>
          <p:cNvSpPr txBox="true"/>
          <p:nvPr/>
        </p:nvSpPr>
        <p:spPr>
          <a:xfrm rot="0">
            <a:off x="5216048" y="577737"/>
            <a:ext cx="6396633"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OBJECTIVES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Freeform 4" id="4"/>
          <p:cNvSpPr/>
          <p:nvPr/>
        </p:nvSpPr>
        <p:spPr>
          <a:xfrm flipH="false" flipV="false" rot="0">
            <a:off x="1834419" y="270446"/>
            <a:ext cx="14619162" cy="9746108"/>
          </a:xfrm>
          <a:custGeom>
            <a:avLst/>
            <a:gdLst/>
            <a:ahLst/>
            <a:cxnLst/>
            <a:rect r="r" b="b" t="t" l="l"/>
            <a:pathLst>
              <a:path h="9746108" w="14619162">
                <a:moveTo>
                  <a:pt x="0" y="0"/>
                </a:moveTo>
                <a:lnTo>
                  <a:pt x="14619162" y="0"/>
                </a:lnTo>
                <a:lnTo>
                  <a:pt x="14619162" y="9746108"/>
                </a:lnTo>
                <a:lnTo>
                  <a:pt x="0" y="9746108"/>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583025" y="2254310"/>
            <a:ext cx="16878455" cy="6894922"/>
          </a:xfrm>
          <a:prstGeom prst="rect">
            <a:avLst/>
          </a:prstGeom>
        </p:spPr>
        <p:txBody>
          <a:bodyPr anchor="t" rtlCol="false" tIns="0" lIns="0" bIns="0" rIns="0">
            <a:spAutoFit/>
          </a:bodyPr>
          <a:lstStyle/>
          <a:p>
            <a:pPr algn="l">
              <a:lnSpc>
                <a:spcPts val="5040"/>
              </a:lnSpc>
            </a:pPr>
            <a:r>
              <a:rPr lang="en-US" sz="3000">
                <a:solidFill>
                  <a:srgbClr val="000D43"/>
                </a:solidFill>
                <a:latin typeface="Times New Roman"/>
                <a:ea typeface="Times New Roman"/>
                <a:cs typeface="Times New Roman"/>
                <a:sym typeface="Times New Roman"/>
              </a:rPr>
              <a:t>•</a:t>
            </a:r>
            <a:r>
              <a:rPr lang="en-US" sz="3000">
                <a:solidFill>
                  <a:srgbClr val="000D43"/>
                </a:solidFill>
                <a:latin typeface="Times New Roman"/>
                <a:ea typeface="Times New Roman"/>
                <a:cs typeface="Times New Roman"/>
                <a:sym typeface="Times New Roman"/>
              </a:rPr>
              <a:t> Requirement Analysis – Identify the requirements for movie booking, movie management, snacks, ratings and billing.</a:t>
            </a:r>
          </a:p>
          <a:p>
            <a:pPr algn="l">
              <a:lnSpc>
                <a:spcPts val="5040"/>
              </a:lnSpc>
            </a:pPr>
            <a:r>
              <a:rPr lang="en-US" sz="3000">
                <a:solidFill>
                  <a:srgbClr val="000D43"/>
                </a:solidFill>
                <a:latin typeface="Times New Roman"/>
                <a:ea typeface="Times New Roman"/>
                <a:cs typeface="Times New Roman"/>
                <a:sym typeface="Times New Roman"/>
              </a:rPr>
              <a:t>• System Design – Design separate Staff and Customer portals with different functionalities.</a:t>
            </a:r>
          </a:p>
          <a:p>
            <a:pPr algn="l">
              <a:lnSpc>
                <a:spcPts val="5040"/>
              </a:lnSpc>
            </a:pPr>
            <a:r>
              <a:rPr lang="en-US" sz="3000">
                <a:solidFill>
                  <a:srgbClr val="000D43"/>
                </a:solidFill>
                <a:latin typeface="Times New Roman"/>
                <a:ea typeface="Times New Roman"/>
                <a:cs typeface="Times New Roman"/>
                <a:sym typeface="Times New Roman"/>
              </a:rPr>
              <a:t>• Database Design – Store movies, bookings, snacks and ratings in a MySQL database.</a:t>
            </a:r>
          </a:p>
          <a:p>
            <a:pPr algn="l">
              <a:lnSpc>
                <a:spcPts val="5040"/>
              </a:lnSpc>
            </a:pPr>
            <a:r>
              <a:rPr lang="en-US" sz="3000">
                <a:solidFill>
                  <a:srgbClr val="000D43"/>
                </a:solidFill>
                <a:latin typeface="Times New Roman"/>
                <a:ea typeface="Times New Roman"/>
                <a:cs typeface="Times New Roman"/>
                <a:sym typeface="Times New Roman"/>
              </a:rPr>
              <a:t>• Python Development – Implement the system using Python functions, user input and SQL queries.</a:t>
            </a:r>
          </a:p>
          <a:p>
            <a:pPr algn="l">
              <a:lnSpc>
                <a:spcPts val="5040"/>
              </a:lnSpc>
            </a:pPr>
            <a:r>
              <a:rPr lang="en-US" sz="3000">
                <a:solidFill>
                  <a:srgbClr val="000D43"/>
                </a:solidFill>
                <a:latin typeface="Times New Roman"/>
                <a:ea typeface="Times New Roman"/>
                <a:cs typeface="Times New Roman"/>
                <a:sym typeface="Times New Roman"/>
              </a:rPr>
              <a:t>• MySQL Connectivity – Connect Python with MySQL using the mysql.connector module.</a:t>
            </a:r>
          </a:p>
          <a:p>
            <a:pPr algn="l">
              <a:lnSpc>
                <a:spcPts val="5040"/>
              </a:lnSpc>
            </a:pPr>
            <a:r>
              <a:rPr lang="en-US" sz="3000">
                <a:solidFill>
                  <a:srgbClr val="000D43"/>
                </a:solidFill>
                <a:latin typeface="Times New Roman"/>
                <a:ea typeface="Times New Roman"/>
                <a:cs typeface="Times New Roman"/>
                <a:sym typeface="Times New Roman"/>
              </a:rPr>
              <a:t>• Module Development – Develop login, movie management, ticket booking, snacks, billing, ratings and reporting modules.</a:t>
            </a:r>
          </a:p>
          <a:p>
            <a:pPr algn="l">
              <a:lnSpc>
                <a:spcPts val="5040"/>
              </a:lnSpc>
            </a:pPr>
            <a:r>
              <a:rPr lang="en-US" sz="3000">
                <a:solidFill>
                  <a:srgbClr val="000D43"/>
                </a:solidFill>
                <a:latin typeface="Times New Roman"/>
                <a:ea typeface="Times New Roman"/>
                <a:cs typeface="Times New Roman"/>
                <a:sym typeface="Times New Roman"/>
              </a:rPr>
              <a:t>• Testing – Test valid inputs, invalid inputs, bookings, cancellations and database operations.</a:t>
            </a:r>
          </a:p>
          <a:p>
            <a:pPr algn="l">
              <a:lnSpc>
                <a:spcPts val="5040"/>
              </a:lnSpc>
            </a:pPr>
            <a:r>
              <a:rPr lang="en-US" sz="3000">
                <a:solidFill>
                  <a:srgbClr val="000D43"/>
                </a:solidFill>
                <a:latin typeface="Times New Roman"/>
                <a:ea typeface="Times New Roman"/>
                <a:cs typeface="Times New Roman"/>
                <a:sym typeface="Times New Roman"/>
              </a:rPr>
              <a:t>• Implementation – Integrate all modules into a complete Movie Ticket Booking System.</a:t>
            </a:r>
          </a:p>
          <a:p>
            <a:pPr algn="l">
              <a:lnSpc>
                <a:spcPts val="5040"/>
              </a:lnSpc>
            </a:pPr>
          </a:p>
        </p:txBody>
      </p:sp>
      <p:sp>
        <p:nvSpPr>
          <p:cNvPr name="TextBox 5" id="5"/>
          <p:cNvSpPr txBox="true"/>
          <p:nvPr/>
        </p:nvSpPr>
        <p:spPr>
          <a:xfrm rot="0">
            <a:off x="4813620" y="370812"/>
            <a:ext cx="8358353"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M</a:t>
            </a:r>
            <a:r>
              <a:rPr lang="en-US" b="true" sz="7950">
                <a:solidFill>
                  <a:srgbClr val="0C5BA6"/>
                </a:solidFill>
                <a:latin typeface="Times New Roman Bold"/>
                <a:ea typeface="Times New Roman Bold"/>
                <a:cs typeface="Times New Roman Bold"/>
                <a:sym typeface="Times New Roman Bold"/>
              </a:rPr>
              <a:t>ETHODOLOGY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Freeform 4" id="4"/>
          <p:cNvSpPr/>
          <p:nvPr/>
        </p:nvSpPr>
        <p:spPr>
          <a:xfrm flipH="false" flipV="false" rot="0">
            <a:off x="1028700" y="0"/>
            <a:ext cx="15430500" cy="10287000"/>
          </a:xfrm>
          <a:custGeom>
            <a:avLst/>
            <a:gdLst/>
            <a:ahLst/>
            <a:cxnLst/>
            <a:rect r="r" b="b" t="t" l="l"/>
            <a:pathLst>
              <a:path h="10287000" w="15430500">
                <a:moveTo>
                  <a:pt x="0" y="0"/>
                </a:moveTo>
                <a:lnTo>
                  <a:pt x="15430500" y="0"/>
                </a:lnTo>
                <a:lnTo>
                  <a:pt x="15430500" y="10287000"/>
                </a:lnTo>
                <a:lnTo>
                  <a:pt x="0" y="10287000"/>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46274" y="618462"/>
            <a:ext cx="21380547" cy="3298317"/>
          </a:xfrm>
          <a:prstGeom prst="rect">
            <a:avLst/>
          </a:prstGeom>
        </p:spPr>
        <p:txBody>
          <a:bodyPr anchor="t" rtlCol="false" tIns="0" lIns="0" bIns="0" rIns="0">
            <a:spAutoFit/>
          </a:bodyPr>
          <a:lstStyle/>
          <a:p>
            <a:pPr algn="ctr">
              <a:lnSpc>
                <a:spcPts val="8506"/>
              </a:lnSpc>
              <a:spcBef>
                <a:spcPct val="0"/>
              </a:spcBef>
            </a:pPr>
            <a:r>
              <a:rPr lang="en-US" b="true" sz="7950">
                <a:solidFill>
                  <a:srgbClr val="1659A5"/>
                </a:solidFill>
                <a:latin typeface="Times New Roman Bold"/>
                <a:ea typeface="Times New Roman Bold"/>
                <a:cs typeface="Times New Roman Bold"/>
                <a:sym typeface="Times New Roman Bold"/>
              </a:rPr>
              <a:t>MODULE 1 - REGISTRATION </a:t>
            </a:r>
          </a:p>
          <a:p>
            <a:pPr algn="ctr">
              <a:lnSpc>
                <a:spcPts val="8506"/>
              </a:lnSpc>
              <a:spcBef>
                <a:spcPct val="0"/>
              </a:spcBef>
            </a:pPr>
            <a:r>
              <a:rPr lang="en-US" b="true" sz="7950">
                <a:solidFill>
                  <a:srgbClr val="1659A5"/>
                </a:solidFill>
                <a:latin typeface="Times New Roman Bold"/>
                <a:ea typeface="Times New Roman Bold"/>
                <a:cs typeface="Times New Roman Bold"/>
                <a:sym typeface="Times New Roman Bold"/>
              </a:rPr>
              <a:t>&amp;</a:t>
            </a:r>
          </a:p>
          <a:p>
            <a:pPr algn="ctr">
              <a:lnSpc>
                <a:spcPts val="8506"/>
              </a:lnSpc>
              <a:spcBef>
                <a:spcPct val="0"/>
              </a:spcBef>
            </a:pPr>
            <a:r>
              <a:rPr lang="en-US" b="true" sz="7950">
                <a:solidFill>
                  <a:srgbClr val="1659A5"/>
                </a:solidFill>
                <a:latin typeface="Times New Roman Bold"/>
                <a:ea typeface="Times New Roman Bold"/>
                <a:cs typeface="Times New Roman Bold"/>
                <a:sym typeface="Times New Roman Bold"/>
              </a:rPr>
              <a:t> LOGIN USER REGISTRATION</a:t>
            </a:r>
          </a:p>
        </p:txBody>
      </p:sp>
      <p:sp>
        <p:nvSpPr>
          <p:cNvPr name="TextBox 3" id="3"/>
          <p:cNvSpPr txBox="true"/>
          <p:nvPr/>
        </p:nvSpPr>
        <p:spPr>
          <a:xfrm rot="0">
            <a:off x="2130640" y="4764128"/>
            <a:ext cx="11736256" cy="5043488"/>
          </a:xfrm>
          <a:prstGeom prst="rect">
            <a:avLst/>
          </a:prstGeom>
        </p:spPr>
        <p:txBody>
          <a:bodyPr anchor="t" rtlCol="false" tIns="0" lIns="0" bIns="0" rIns="0">
            <a:spAutoFit/>
          </a:bodyPr>
          <a:lstStyle/>
          <a:p>
            <a:pPr algn="l">
              <a:lnSpc>
                <a:spcPts val="4012"/>
              </a:lnSpc>
            </a:pPr>
            <a:r>
              <a:rPr lang="en-US" sz="3750">
                <a:solidFill>
                  <a:srgbClr val="000000"/>
                </a:solidFill>
                <a:latin typeface="Times New Roman"/>
                <a:ea typeface="Times New Roman"/>
                <a:cs typeface="Times New Roman"/>
                <a:sym typeface="Times New Roman"/>
              </a:rPr>
              <a:t> • Provides separate login op</a:t>
            </a:r>
            <a:r>
              <a:rPr lang="en-US" sz="3750">
                <a:solidFill>
                  <a:srgbClr val="000000"/>
                </a:solidFill>
                <a:latin typeface="Times New Roman"/>
                <a:ea typeface="Times New Roman"/>
                <a:cs typeface="Times New Roman"/>
                <a:sym typeface="Times New Roman"/>
              </a:rPr>
              <a:t>tions for Staff and Customers.</a:t>
            </a:r>
          </a:p>
          <a:p>
            <a:pPr algn="l">
              <a:lnSpc>
                <a:spcPts val="4012"/>
              </a:lnSpc>
            </a:pPr>
          </a:p>
          <a:p>
            <a:pPr algn="l">
              <a:lnSpc>
                <a:spcPts val="4012"/>
              </a:lnSpc>
            </a:pPr>
            <a:r>
              <a:rPr lang="en-US" sz="3750">
                <a:solidFill>
                  <a:srgbClr val="000000"/>
                </a:solidFill>
                <a:latin typeface="Times New Roman"/>
                <a:ea typeface="Times New Roman"/>
                <a:cs typeface="Times New Roman"/>
                <a:sym typeface="Times New Roman"/>
              </a:rPr>
              <a:t> • Staff login verifies Staff ID</a:t>
            </a:r>
            <a:r>
              <a:rPr lang="en-US" sz="3750">
                <a:solidFill>
                  <a:srgbClr val="000000"/>
                </a:solidFill>
                <a:latin typeface="Times New Roman"/>
                <a:ea typeface="Times New Roman"/>
                <a:cs typeface="Times New Roman"/>
                <a:sym typeface="Times New Roman"/>
              </a:rPr>
              <a:t> </a:t>
            </a:r>
            <a:r>
              <a:rPr lang="en-US" sz="3750">
                <a:solidFill>
                  <a:srgbClr val="000000"/>
                </a:solidFill>
                <a:latin typeface="Times New Roman"/>
                <a:ea typeface="Times New Roman"/>
                <a:cs typeface="Times New Roman"/>
                <a:sym typeface="Times New Roman"/>
              </a:rPr>
              <a:t>and password.</a:t>
            </a:r>
          </a:p>
          <a:p>
            <a:pPr algn="l">
              <a:lnSpc>
                <a:spcPts val="4012"/>
              </a:lnSpc>
            </a:pPr>
          </a:p>
          <a:p>
            <a:pPr algn="l">
              <a:lnSpc>
                <a:spcPts val="4012"/>
              </a:lnSpc>
            </a:pPr>
            <a:r>
              <a:rPr lang="en-US" sz="3750">
                <a:solidFill>
                  <a:srgbClr val="000000"/>
                </a:solidFill>
                <a:latin typeface="Times New Roman"/>
                <a:ea typeface="Times New Roman"/>
                <a:cs typeface="Times New Roman"/>
                <a:sym typeface="Times New Roman"/>
              </a:rPr>
              <a:t> • Customer login verifies username and password.</a:t>
            </a:r>
          </a:p>
          <a:p>
            <a:pPr algn="l">
              <a:lnSpc>
                <a:spcPts val="4012"/>
              </a:lnSpc>
            </a:pPr>
          </a:p>
          <a:p>
            <a:pPr algn="l">
              <a:lnSpc>
                <a:spcPts val="4012"/>
              </a:lnSpc>
            </a:pPr>
            <a:r>
              <a:rPr lang="en-US" sz="3750">
                <a:solidFill>
                  <a:srgbClr val="000000"/>
                </a:solidFill>
                <a:latin typeface="Times New Roman"/>
                <a:ea typeface="Times New Roman"/>
                <a:cs typeface="Times New Roman"/>
                <a:sym typeface="Times New Roman"/>
              </a:rPr>
              <a:t> </a:t>
            </a:r>
            <a:r>
              <a:rPr lang="en-US" sz="3750">
                <a:solidFill>
                  <a:srgbClr val="000000"/>
                </a:solidFill>
                <a:latin typeface="Times New Roman"/>
                <a:ea typeface="Times New Roman"/>
                <a:cs typeface="Times New Roman"/>
                <a:sym typeface="Times New Roman"/>
              </a:rPr>
              <a:t>• Invalid</a:t>
            </a:r>
            <a:r>
              <a:rPr lang="en-US" sz="3750">
                <a:solidFill>
                  <a:srgbClr val="000000"/>
                </a:solidFill>
                <a:latin typeface="Times New Roman"/>
                <a:ea typeface="Times New Roman"/>
                <a:cs typeface="Times New Roman"/>
                <a:sym typeface="Times New Roman"/>
              </a:rPr>
              <a:t> staff credentials are denied access.</a:t>
            </a:r>
          </a:p>
          <a:p>
            <a:pPr algn="l">
              <a:lnSpc>
                <a:spcPts val="4012"/>
              </a:lnSpc>
            </a:pPr>
          </a:p>
          <a:p>
            <a:pPr algn="l">
              <a:lnSpc>
                <a:spcPts val="4012"/>
              </a:lnSpc>
            </a:pPr>
            <a:r>
              <a:rPr lang="en-US" sz="3750">
                <a:solidFill>
                  <a:srgbClr val="000000"/>
                </a:solidFill>
                <a:latin typeface="Times New Roman"/>
                <a:ea typeface="Times New Roman"/>
                <a:cs typeface="Times New Roman"/>
                <a:sym typeface="Times New Roman"/>
              </a:rPr>
              <a:t> • Successful l</a:t>
            </a:r>
            <a:r>
              <a:rPr lang="en-US" sz="3750">
                <a:solidFill>
                  <a:srgbClr val="000000"/>
                </a:solidFill>
                <a:latin typeface="Times New Roman"/>
                <a:ea typeface="Times New Roman"/>
                <a:cs typeface="Times New Roman"/>
                <a:sym typeface="Times New Roman"/>
              </a:rPr>
              <a:t>ogin redirects the user to the appropriate portal.</a:t>
            </a:r>
          </a:p>
          <a:p>
            <a:pPr algn="l">
              <a:lnSpc>
                <a:spcPts val="4012"/>
              </a:lnSpc>
            </a:pPr>
          </a:p>
        </p:txBody>
      </p:sp>
      <p:sp>
        <p:nvSpPr>
          <p:cNvPr name="Freeform 4" id="4"/>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2"/>
            <a:stretch>
              <a:fillRect l="0" t="0" r="0" b="0"/>
            </a:stretch>
          </a:blipFill>
        </p:spPr>
      </p:sp>
      <p:sp>
        <p:nvSpPr>
          <p:cNvPr name="Freeform 5" id="5"/>
          <p:cNvSpPr/>
          <p:nvPr/>
        </p:nvSpPr>
        <p:spPr>
          <a:xfrm flipH="false" flipV="false" rot="0">
            <a:off x="17004124" y="29944"/>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53869" y="1318692"/>
            <a:ext cx="13609777" cy="8731760"/>
          </a:xfrm>
          <a:custGeom>
            <a:avLst/>
            <a:gdLst/>
            <a:ahLst/>
            <a:cxnLst/>
            <a:rect r="r" b="b" t="t" l="l"/>
            <a:pathLst>
              <a:path h="8731760" w="13609777">
                <a:moveTo>
                  <a:pt x="0" y="0"/>
                </a:moveTo>
                <a:lnTo>
                  <a:pt x="13609776" y="0"/>
                </a:lnTo>
                <a:lnTo>
                  <a:pt x="13609776" y="8731759"/>
                </a:lnTo>
                <a:lnTo>
                  <a:pt x="0" y="8731759"/>
                </a:lnTo>
                <a:lnTo>
                  <a:pt x="0" y="0"/>
                </a:lnTo>
                <a:close/>
              </a:path>
            </a:pathLst>
          </a:custGeom>
          <a:blipFill>
            <a:blip r:embed="rId2"/>
            <a:stretch>
              <a:fillRect l="0" t="0" r="-40044" b="0"/>
            </a:stretch>
          </a:blipFill>
        </p:spPr>
      </p:sp>
      <p:sp>
        <p:nvSpPr>
          <p:cNvPr name="TextBox 3" id="3"/>
          <p:cNvSpPr txBox="true"/>
          <p:nvPr/>
        </p:nvSpPr>
        <p:spPr>
          <a:xfrm rot="0">
            <a:off x="3310103" y="-9988"/>
            <a:ext cx="11667795"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CODE: LOGIN MODULE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359995" cy="1331563"/>
          </a:xfrm>
          <a:custGeom>
            <a:avLst/>
            <a:gdLst/>
            <a:ahLst/>
            <a:cxnLst/>
            <a:rect r="r" b="b" t="t" l="l"/>
            <a:pathLst>
              <a:path h="1331563" w="1359995">
                <a:moveTo>
                  <a:pt x="0" y="0"/>
                </a:moveTo>
                <a:lnTo>
                  <a:pt x="1359995" y="0"/>
                </a:lnTo>
                <a:lnTo>
                  <a:pt x="1359995" y="1331563"/>
                </a:lnTo>
                <a:lnTo>
                  <a:pt x="0" y="1331563"/>
                </a:lnTo>
                <a:lnTo>
                  <a:pt x="0" y="0"/>
                </a:lnTo>
                <a:close/>
              </a:path>
            </a:pathLst>
          </a:custGeom>
          <a:blipFill>
            <a:blip r:embed="rId2"/>
            <a:stretch>
              <a:fillRect l="0" t="0" r="0" b="0"/>
            </a:stretch>
          </a:blipFill>
        </p:spPr>
      </p:sp>
      <p:sp>
        <p:nvSpPr>
          <p:cNvPr name="Freeform 3" id="3"/>
          <p:cNvSpPr/>
          <p:nvPr/>
        </p:nvSpPr>
        <p:spPr>
          <a:xfrm flipH="false" flipV="false" rot="0">
            <a:off x="16755494" y="0"/>
            <a:ext cx="1532506" cy="1291278"/>
          </a:xfrm>
          <a:custGeom>
            <a:avLst/>
            <a:gdLst/>
            <a:ahLst/>
            <a:cxnLst/>
            <a:rect r="r" b="b" t="t" l="l"/>
            <a:pathLst>
              <a:path h="1291278" w="1532506">
                <a:moveTo>
                  <a:pt x="0" y="0"/>
                </a:moveTo>
                <a:lnTo>
                  <a:pt x="1532506" y="0"/>
                </a:lnTo>
                <a:lnTo>
                  <a:pt x="1532506" y="1291278"/>
                </a:lnTo>
                <a:lnTo>
                  <a:pt x="0" y="1291278"/>
                </a:lnTo>
                <a:lnTo>
                  <a:pt x="0" y="0"/>
                </a:lnTo>
                <a:close/>
              </a:path>
            </a:pathLst>
          </a:custGeom>
          <a:blipFill>
            <a:blip r:embed="rId3"/>
            <a:stretch>
              <a:fillRect l="0" t="0" r="0" b="0"/>
            </a:stretch>
          </a:blipFill>
        </p:spPr>
      </p:sp>
      <p:sp>
        <p:nvSpPr>
          <p:cNvPr name="Freeform 4" id="4"/>
          <p:cNvSpPr/>
          <p:nvPr/>
        </p:nvSpPr>
        <p:spPr>
          <a:xfrm flipH="false" flipV="false" rot="0">
            <a:off x="2295513" y="1776250"/>
            <a:ext cx="13524464" cy="7482050"/>
          </a:xfrm>
          <a:custGeom>
            <a:avLst/>
            <a:gdLst/>
            <a:ahLst/>
            <a:cxnLst/>
            <a:rect r="r" b="b" t="t" l="l"/>
            <a:pathLst>
              <a:path h="7482050" w="13524464">
                <a:moveTo>
                  <a:pt x="0" y="0"/>
                </a:moveTo>
                <a:lnTo>
                  <a:pt x="13524463" y="0"/>
                </a:lnTo>
                <a:lnTo>
                  <a:pt x="13524463" y="7482050"/>
                </a:lnTo>
                <a:lnTo>
                  <a:pt x="0" y="7482050"/>
                </a:lnTo>
                <a:lnTo>
                  <a:pt x="0" y="0"/>
                </a:lnTo>
                <a:close/>
              </a:path>
            </a:pathLst>
          </a:custGeom>
          <a:blipFill>
            <a:blip r:embed="rId4"/>
            <a:stretch>
              <a:fillRect l="0" t="0" r="0" b="0"/>
            </a:stretch>
          </a:blipFill>
        </p:spPr>
      </p:sp>
      <p:sp>
        <p:nvSpPr>
          <p:cNvPr name="TextBox 5" id="5"/>
          <p:cNvSpPr txBox="true"/>
          <p:nvPr/>
        </p:nvSpPr>
        <p:spPr>
          <a:xfrm rot="0">
            <a:off x="5546824" y="-18270"/>
            <a:ext cx="7194352" cy="1165892"/>
          </a:xfrm>
          <a:prstGeom prst="rect">
            <a:avLst/>
          </a:prstGeom>
        </p:spPr>
        <p:txBody>
          <a:bodyPr anchor="t" rtlCol="false" tIns="0" lIns="0" bIns="0" rIns="0">
            <a:spAutoFit/>
          </a:bodyPr>
          <a:lstStyle/>
          <a:p>
            <a:pPr algn="ctr">
              <a:lnSpc>
                <a:spcPts val="9240"/>
              </a:lnSpc>
            </a:pPr>
            <a:r>
              <a:rPr lang="en-US" sz="6600">
                <a:solidFill>
                  <a:srgbClr val="FFFFFF"/>
                </a:solidFill>
                <a:latin typeface="Times New Roman"/>
                <a:ea typeface="Times New Roman"/>
                <a:cs typeface="Times New Roman"/>
                <a:sym typeface="Times New Roman"/>
              </a:rPr>
              <a:t>CLIENTS SECTION</a:t>
            </a:r>
          </a:p>
        </p:txBody>
      </p:sp>
      <p:sp>
        <p:nvSpPr>
          <p:cNvPr name="TextBox 6" id="6"/>
          <p:cNvSpPr txBox="true"/>
          <p:nvPr/>
        </p:nvSpPr>
        <p:spPr>
          <a:xfrm rot="0">
            <a:off x="2616215" y="-37401"/>
            <a:ext cx="12883059"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OUTPUT: LOGIN MODULE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1569676" y="2424374"/>
            <a:ext cx="16878455" cy="7043738"/>
          </a:xfrm>
          <a:prstGeom prst="rect">
            <a:avLst/>
          </a:prstGeom>
        </p:spPr>
        <p:txBody>
          <a:bodyPr anchor="t" rtlCol="false" tIns="0" lIns="0" bIns="0" rIns="0">
            <a:spAutoFit/>
          </a:bodyPr>
          <a:lstStyle/>
          <a:p>
            <a:pPr algn="l">
              <a:lnSpc>
                <a:spcPts val="6300"/>
              </a:lnSpc>
            </a:pPr>
            <a:r>
              <a:rPr lang="en-US" sz="3750">
                <a:solidFill>
                  <a:srgbClr val="000D43"/>
                </a:solidFill>
                <a:latin typeface="Times New Roman"/>
                <a:ea typeface="Times New Roman"/>
                <a:cs typeface="Times New Roman"/>
                <a:sym typeface="Times New Roman"/>
              </a:rPr>
              <a:t>•</a:t>
            </a:r>
            <a:r>
              <a:rPr lang="en-US" sz="3750">
                <a:solidFill>
                  <a:srgbClr val="000D43"/>
                </a:solidFill>
                <a:latin typeface="Times New Roman"/>
                <a:ea typeface="Times New Roman"/>
                <a:cs typeface="Times New Roman"/>
                <a:sym typeface="Times New Roman"/>
              </a:rPr>
              <a:t> Display all available movies.</a:t>
            </a:r>
          </a:p>
          <a:p>
            <a:pPr algn="l">
              <a:lnSpc>
                <a:spcPts val="6300"/>
              </a:lnSpc>
            </a:pPr>
            <a:r>
              <a:rPr lang="en-US" sz="3750">
                <a:solidFill>
                  <a:srgbClr val="000D43"/>
                </a:solidFill>
                <a:latin typeface="Times New Roman"/>
                <a:ea typeface="Times New Roman"/>
                <a:cs typeface="Times New Roman"/>
                <a:sym typeface="Times New Roman"/>
              </a:rPr>
              <a:t> </a:t>
            </a:r>
            <a:r>
              <a:rPr lang="en-US" sz="3750">
                <a:solidFill>
                  <a:srgbClr val="000D43"/>
                </a:solidFill>
                <a:latin typeface="Times New Roman"/>
                <a:ea typeface="Times New Roman"/>
                <a:cs typeface="Times New Roman"/>
                <a:sym typeface="Times New Roman"/>
              </a:rPr>
              <a:t>• Add new movies to the database.</a:t>
            </a:r>
          </a:p>
          <a:p>
            <a:pPr algn="l">
              <a:lnSpc>
                <a:spcPts val="6300"/>
              </a:lnSpc>
            </a:pPr>
            <a:r>
              <a:rPr lang="en-US" sz="3750">
                <a:solidFill>
                  <a:srgbClr val="000D43"/>
                </a:solidFill>
                <a:latin typeface="Times New Roman"/>
                <a:ea typeface="Times New Roman"/>
                <a:cs typeface="Times New Roman"/>
                <a:sym typeface="Times New Roman"/>
              </a:rPr>
              <a:t> • Search movies by ID or name.</a:t>
            </a:r>
          </a:p>
          <a:p>
            <a:pPr algn="l">
              <a:lnSpc>
                <a:spcPts val="6300"/>
              </a:lnSpc>
            </a:pPr>
            <a:r>
              <a:rPr lang="en-US" sz="3750">
                <a:solidFill>
                  <a:srgbClr val="000D43"/>
                </a:solidFill>
                <a:latin typeface="Times New Roman"/>
                <a:ea typeface="Times New Roman"/>
                <a:cs typeface="Times New Roman"/>
                <a:sym typeface="Times New Roman"/>
              </a:rPr>
              <a:t> • Search movies by language.</a:t>
            </a:r>
          </a:p>
          <a:p>
            <a:pPr algn="l">
              <a:lnSpc>
                <a:spcPts val="6300"/>
              </a:lnSpc>
            </a:pPr>
            <a:r>
              <a:rPr lang="en-US" sz="3750">
                <a:solidFill>
                  <a:srgbClr val="000D43"/>
                </a:solidFill>
                <a:latin typeface="Times New Roman"/>
                <a:ea typeface="Times New Roman"/>
                <a:cs typeface="Times New Roman"/>
                <a:sym typeface="Times New Roman"/>
              </a:rPr>
              <a:t> • Search movies by price range.</a:t>
            </a:r>
          </a:p>
          <a:p>
            <a:pPr algn="l">
              <a:lnSpc>
                <a:spcPts val="6300"/>
              </a:lnSpc>
            </a:pPr>
            <a:r>
              <a:rPr lang="en-US" sz="3750">
                <a:solidFill>
                  <a:srgbClr val="000D43"/>
                </a:solidFill>
                <a:latin typeface="Times New Roman"/>
                <a:ea typeface="Times New Roman"/>
                <a:cs typeface="Times New Roman"/>
                <a:sym typeface="Times New Roman"/>
              </a:rPr>
              <a:t> • Update movie ticket prices.</a:t>
            </a:r>
          </a:p>
          <a:p>
            <a:pPr algn="l">
              <a:lnSpc>
                <a:spcPts val="6300"/>
              </a:lnSpc>
            </a:pPr>
            <a:r>
              <a:rPr lang="en-US" sz="3750">
                <a:solidFill>
                  <a:srgbClr val="000D43"/>
                </a:solidFill>
                <a:latin typeface="Times New Roman"/>
                <a:ea typeface="Times New Roman"/>
                <a:cs typeface="Times New Roman"/>
                <a:sym typeface="Times New Roman"/>
              </a:rPr>
              <a:t> • Delete movies from the database.</a:t>
            </a:r>
          </a:p>
          <a:p>
            <a:pPr algn="l">
              <a:lnSpc>
                <a:spcPts val="6300"/>
              </a:lnSpc>
            </a:pPr>
            <a:r>
              <a:rPr lang="en-US" sz="3750">
                <a:solidFill>
                  <a:srgbClr val="000D43"/>
                </a:solidFill>
                <a:latin typeface="Times New Roman"/>
                <a:ea typeface="Times New Roman"/>
                <a:cs typeface="Times New Roman"/>
                <a:sym typeface="Times New Roman"/>
              </a:rPr>
              <a:t> • All movie records are managed using MySQL.</a:t>
            </a:r>
          </a:p>
          <a:p>
            <a:pPr algn="l">
              <a:lnSpc>
                <a:spcPts val="6300"/>
              </a:lnSpc>
            </a:pPr>
          </a:p>
        </p:txBody>
      </p:sp>
      <p:sp>
        <p:nvSpPr>
          <p:cNvPr name="TextBox 5" id="5"/>
          <p:cNvSpPr txBox="true"/>
          <p:nvPr/>
        </p:nvSpPr>
        <p:spPr>
          <a:xfrm rot="0">
            <a:off x="801486" y="1076325"/>
            <a:ext cx="17301932" cy="1155192"/>
          </a:xfrm>
          <a:prstGeom prst="rect">
            <a:avLst/>
          </a:prstGeom>
        </p:spPr>
        <p:txBody>
          <a:bodyPr anchor="t" rtlCol="false" tIns="0" lIns="0" bIns="0" rIns="0">
            <a:spAutoFit/>
          </a:bodyPr>
          <a:lstStyle/>
          <a:p>
            <a:pPr algn="ctr">
              <a:lnSpc>
                <a:spcPts val="8506"/>
              </a:lnSpc>
            </a:pPr>
            <a:r>
              <a:rPr lang="en-US" b="true" sz="7950">
                <a:solidFill>
                  <a:srgbClr val="0C5BA6"/>
                </a:solidFill>
                <a:latin typeface="Times New Roman Bold"/>
                <a:ea typeface="Times New Roman Bold"/>
                <a:cs typeface="Times New Roman Bold"/>
                <a:sym typeface="Times New Roman Bold"/>
              </a:rPr>
              <a:t>M</a:t>
            </a:r>
            <a:r>
              <a:rPr lang="en-US" b="true" sz="7950">
                <a:solidFill>
                  <a:srgbClr val="0C5BA6"/>
                </a:solidFill>
                <a:latin typeface="Times New Roman Bold"/>
                <a:ea typeface="Times New Roman Bold"/>
                <a:cs typeface="Times New Roman Bold"/>
                <a:sym typeface="Times New Roman Bold"/>
              </a:rPr>
              <a:t>ODULE 2: MOVIE MANAGEMENT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359995" cy="1331563"/>
          </a:xfrm>
          <a:custGeom>
            <a:avLst/>
            <a:gdLst/>
            <a:ahLst/>
            <a:cxnLst/>
            <a:rect r="r" b="b" t="t" l="l"/>
            <a:pathLst>
              <a:path h="1331563" w="1359995">
                <a:moveTo>
                  <a:pt x="0" y="0"/>
                </a:moveTo>
                <a:lnTo>
                  <a:pt x="1359995" y="0"/>
                </a:lnTo>
                <a:lnTo>
                  <a:pt x="1359995" y="1331563"/>
                </a:lnTo>
                <a:lnTo>
                  <a:pt x="0" y="1331563"/>
                </a:lnTo>
                <a:lnTo>
                  <a:pt x="0" y="0"/>
                </a:lnTo>
                <a:close/>
              </a:path>
            </a:pathLst>
          </a:custGeom>
          <a:blipFill>
            <a:blip r:embed="rId2"/>
            <a:stretch>
              <a:fillRect l="0" t="0" r="0" b="0"/>
            </a:stretch>
          </a:blipFill>
        </p:spPr>
      </p:sp>
      <p:sp>
        <p:nvSpPr>
          <p:cNvPr name="Freeform 3" id="3"/>
          <p:cNvSpPr/>
          <p:nvPr/>
        </p:nvSpPr>
        <p:spPr>
          <a:xfrm flipH="false" flipV="false" rot="0">
            <a:off x="16755494" y="0"/>
            <a:ext cx="1532506" cy="1291278"/>
          </a:xfrm>
          <a:custGeom>
            <a:avLst/>
            <a:gdLst/>
            <a:ahLst/>
            <a:cxnLst/>
            <a:rect r="r" b="b" t="t" l="l"/>
            <a:pathLst>
              <a:path h="1291278" w="1532506">
                <a:moveTo>
                  <a:pt x="0" y="0"/>
                </a:moveTo>
                <a:lnTo>
                  <a:pt x="1532506" y="0"/>
                </a:lnTo>
                <a:lnTo>
                  <a:pt x="1532506" y="1291278"/>
                </a:lnTo>
                <a:lnTo>
                  <a:pt x="0" y="1291278"/>
                </a:lnTo>
                <a:lnTo>
                  <a:pt x="0" y="0"/>
                </a:lnTo>
                <a:close/>
              </a:path>
            </a:pathLst>
          </a:custGeom>
          <a:blipFill>
            <a:blip r:embed="rId3"/>
            <a:stretch>
              <a:fillRect l="0" t="0" r="0" b="0"/>
            </a:stretch>
          </a:blipFill>
        </p:spPr>
      </p:sp>
      <p:sp>
        <p:nvSpPr>
          <p:cNvPr name="Freeform 4" id="4"/>
          <p:cNvSpPr/>
          <p:nvPr/>
        </p:nvSpPr>
        <p:spPr>
          <a:xfrm flipH="false" flipV="false" rot="0">
            <a:off x="1308145" y="2307069"/>
            <a:ext cx="15447349" cy="6688348"/>
          </a:xfrm>
          <a:custGeom>
            <a:avLst/>
            <a:gdLst/>
            <a:ahLst/>
            <a:cxnLst/>
            <a:rect r="r" b="b" t="t" l="l"/>
            <a:pathLst>
              <a:path h="6688348" w="15447349">
                <a:moveTo>
                  <a:pt x="0" y="0"/>
                </a:moveTo>
                <a:lnTo>
                  <a:pt x="15447349" y="0"/>
                </a:lnTo>
                <a:lnTo>
                  <a:pt x="15447349" y="6688348"/>
                </a:lnTo>
                <a:lnTo>
                  <a:pt x="0" y="6688348"/>
                </a:lnTo>
                <a:lnTo>
                  <a:pt x="0" y="0"/>
                </a:lnTo>
                <a:close/>
              </a:path>
            </a:pathLst>
          </a:custGeom>
          <a:blipFill>
            <a:blip r:embed="rId4"/>
            <a:stretch>
              <a:fillRect l="0" t="-3540" r="-18582" b="-3540"/>
            </a:stretch>
          </a:blipFill>
        </p:spPr>
      </p:sp>
      <p:sp>
        <p:nvSpPr>
          <p:cNvPr name="TextBox 5" id="5"/>
          <p:cNvSpPr txBox="true"/>
          <p:nvPr/>
        </p:nvSpPr>
        <p:spPr>
          <a:xfrm rot="0">
            <a:off x="5546824" y="-18270"/>
            <a:ext cx="7194352" cy="1165892"/>
          </a:xfrm>
          <a:prstGeom prst="rect">
            <a:avLst/>
          </a:prstGeom>
        </p:spPr>
        <p:txBody>
          <a:bodyPr anchor="t" rtlCol="false" tIns="0" lIns="0" bIns="0" rIns="0">
            <a:spAutoFit/>
          </a:bodyPr>
          <a:lstStyle/>
          <a:p>
            <a:pPr algn="ctr">
              <a:lnSpc>
                <a:spcPts val="9240"/>
              </a:lnSpc>
            </a:pPr>
            <a:r>
              <a:rPr lang="en-US" sz="6600">
                <a:solidFill>
                  <a:srgbClr val="FFFFFF"/>
                </a:solidFill>
                <a:latin typeface="Times New Roman"/>
                <a:ea typeface="Times New Roman"/>
                <a:cs typeface="Times New Roman"/>
                <a:sym typeface="Times New Roman"/>
              </a:rPr>
              <a:t>CLIENTS SECTION</a:t>
            </a:r>
          </a:p>
        </p:txBody>
      </p:sp>
      <p:sp>
        <p:nvSpPr>
          <p:cNvPr name="TextBox 6" id="6"/>
          <p:cNvSpPr txBox="true"/>
          <p:nvPr/>
        </p:nvSpPr>
        <p:spPr>
          <a:xfrm rot="0">
            <a:off x="3074384" y="-18270"/>
            <a:ext cx="11966721" cy="1131757"/>
          </a:xfrm>
          <a:prstGeom prst="rect">
            <a:avLst/>
          </a:prstGeom>
        </p:spPr>
        <p:txBody>
          <a:bodyPr anchor="t" rtlCol="false" tIns="0" lIns="0" bIns="0" rIns="0">
            <a:spAutoFit/>
          </a:bodyPr>
          <a:lstStyle/>
          <a:p>
            <a:pPr algn="ctr">
              <a:lnSpc>
                <a:spcPts val="8927"/>
              </a:lnSpc>
              <a:spcBef>
                <a:spcPct val="0"/>
              </a:spcBef>
            </a:pPr>
            <a:r>
              <a:rPr lang="en-US" b="true" sz="6376">
                <a:solidFill>
                  <a:srgbClr val="0C5BA6"/>
                </a:solidFill>
                <a:latin typeface="Times New Roman Bold"/>
                <a:ea typeface="Times New Roman Bold"/>
                <a:cs typeface="Times New Roman Bold"/>
                <a:sym typeface="Times New Roman Bold"/>
              </a:rPr>
              <a:t>CODE: MOVIE MANAGEMENT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359995" cy="1331563"/>
          </a:xfrm>
          <a:custGeom>
            <a:avLst/>
            <a:gdLst/>
            <a:ahLst/>
            <a:cxnLst/>
            <a:rect r="r" b="b" t="t" l="l"/>
            <a:pathLst>
              <a:path h="1331563" w="1359995">
                <a:moveTo>
                  <a:pt x="0" y="0"/>
                </a:moveTo>
                <a:lnTo>
                  <a:pt x="1359995" y="0"/>
                </a:lnTo>
                <a:lnTo>
                  <a:pt x="1359995" y="1331563"/>
                </a:lnTo>
                <a:lnTo>
                  <a:pt x="0" y="1331563"/>
                </a:lnTo>
                <a:lnTo>
                  <a:pt x="0" y="0"/>
                </a:lnTo>
                <a:close/>
              </a:path>
            </a:pathLst>
          </a:custGeom>
          <a:blipFill>
            <a:blip r:embed="rId2"/>
            <a:stretch>
              <a:fillRect l="0" t="0" r="0" b="0"/>
            </a:stretch>
          </a:blipFill>
        </p:spPr>
      </p:sp>
      <p:sp>
        <p:nvSpPr>
          <p:cNvPr name="Freeform 3" id="3"/>
          <p:cNvSpPr/>
          <p:nvPr/>
        </p:nvSpPr>
        <p:spPr>
          <a:xfrm flipH="false" flipV="false" rot="0">
            <a:off x="16755494" y="0"/>
            <a:ext cx="1532506" cy="1291278"/>
          </a:xfrm>
          <a:custGeom>
            <a:avLst/>
            <a:gdLst/>
            <a:ahLst/>
            <a:cxnLst/>
            <a:rect r="r" b="b" t="t" l="l"/>
            <a:pathLst>
              <a:path h="1291278" w="1532506">
                <a:moveTo>
                  <a:pt x="0" y="0"/>
                </a:moveTo>
                <a:lnTo>
                  <a:pt x="1532506" y="0"/>
                </a:lnTo>
                <a:lnTo>
                  <a:pt x="1532506" y="1291278"/>
                </a:lnTo>
                <a:lnTo>
                  <a:pt x="0" y="1291278"/>
                </a:lnTo>
                <a:lnTo>
                  <a:pt x="0" y="0"/>
                </a:lnTo>
                <a:close/>
              </a:path>
            </a:pathLst>
          </a:custGeom>
          <a:blipFill>
            <a:blip r:embed="rId3"/>
            <a:stretch>
              <a:fillRect l="0" t="0" r="0" b="0"/>
            </a:stretch>
          </a:blipFill>
        </p:spPr>
      </p:sp>
      <p:sp>
        <p:nvSpPr>
          <p:cNvPr name="Freeform 4" id="4"/>
          <p:cNvSpPr/>
          <p:nvPr/>
        </p:nvSpPr>
        <p:spPr>
          <a:xfrm flipH="false" flipV="false" rot="0">
            <a:off x="2235627" y="1331563"/>
            <a:ext cx="13020718" cy="8705341"/>
          </a:xfrm>
          <a:custGeom>
            <a:avLst/>
            <a:gdLst/>
            <a:ahLst/>
            <a:cxnLst/>
            <a:rect r="r" b="b" t="t" l="l"/>
            <a:pathLst>
              <a:path h="8705341" w="13020718">
                <a:moveTo>
                  <a:pt x="0" y="0"/>
                </a:moveTo>
                <a:lnTo>
                  <a:pt x="13020718" y="0"/>
                </a:lnTo>
                <a:lnTo>
                  <a:pt x="13020718" y="8705341"/>
                </a:lnTo>
                <a:lnTo>
                  <a:pt x="0" y="8705341"/>
                </a:lnTo>
                <a:lnTo>
                  <a:pt x="0" y="0"/>
                </a:lnTo>
                <a:close/>
              </a:path>
            </a:pathLst>
          </a:custGeom>
          <a:blipFill>
            <a:blip r:embed="rId4"/>
            <a:stretch>
              <a:fillRect l="0" t="0" r="0" b="0"/>
            </a:stretch>
          </a:blipFill>
        </p:spPr>
      </p:sp>
      <p:sp>
        <p:nvSpPr>
          <p:cNvPr name="TextBox 5" id="5"/>
          <p:cNvSpPr txBox="true"/>
          <p:nvPr/>
        </p:nvSpPr>
        <p:spPr>
          <a:xfrm rot="0">
            <a:off x="5546824" y="-18270"/>
            <a:ext cx="7194352" cy="1165892"/>
          </a:xfrm>
          <a:prstGeom prst="rect">
            <a:avLst/>
          </a:prstGeom>
        </p:spPr>
        <p:txBody>
          <a:bodyPr anchor="t" rtlCol="false" tIns="0" lIns="0" bIns="0" rIns="0">
            <a:spAutoFit/>
          </a:bodyPr>
          <a:lstStyle/>
          <a:p>
            <a:pPr algn="ctr">
              <a:lnSpc>
                <a:spcPts val="9240"/>
              </a:lnSpc>
            </a:pPr>
            <a:r>
              <a:rPr lang="en-US" sz="6600">
                <a:solidFill>
                  <a:srgbClr val="FFFFFF"/>
                </a:solidFill>
                <a:latin typeface="Times New Roman"/>
                <a:ea typeface="Times New Roman"/>
                <a:cs typeface="Times New Roman"/>
                <a:sym typeface="Times New Roman"/>
              </a:rPr>
              <a:t>CLIENTS SECTION</a:t>
            </a:r>
          </a:p>
        </p:txBody>
      </p:sp>
      <p:sp>
        <p:nvSpPr>
          <p:cNvPr name="TextBox 6" id="6"/>
          <p:cNvSpPr txBox="true"/>
          <p:nvPr/>
        </p:nvSpPr>
        <p:spPr>
          <a:xfrm rot="0">
            <a:off x="1388116" y="-143967"/>
            <a:ext cx="15367378" cy="1331804"/>
          </a:xfrm>
          <a:prstGeom prst="rect">
            <a:avLst/>
          </a:prstGeom>
        </p:spPr>
        <p:txBody>
          <a:bodyPr anchor="t" rtlCol="false" tIns="0" lIns="0" bIns="0" rIns="0">
            <a:spAutoFit/>
          </a:bodyPr>
          <a:lstStyle/>
          <a:p>
            <a:pPr algn="ctr">
              <a:lnSpc>
                <a:spcPts val="10601"/>
              </a:lnSpc>
              <a:spcBef>
                <a:spcPct val="0"/>
              </a:spcBef>
            </a:pPr>
            <a:r>
              <a:rPr lang="en-US" b="true" sz="7572">
                <a:solidFill>
                  <a:srgbClr val="0C5BA6"/>
                </a:solidFill>
                <a:latin typeface="Times New Roman Bold"/>
                <a:ea typeface="Times New Roman Bold"/>
                <a:cs typeface="Times New Roman Bold"/>
                <a:sym typeface="Times New Roman Bold"/>
              </a:rPr>
              <a:t>OUTPUT: MOVIE MANAGEMENT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568738" y="2719981"/>
            <a:ext cx="16878455" cy="7043738"/>
          </a:xfrm>
          <a:prstGeom prst="rect">
            <a:avLst/>
          </a:prstGeom>
        </p:spPr>
        <p:txBody>
          <a:bodyPr anchor="t" rtlCol="false" tIns="0" lIns="0" bIns="0" rIns="0">
            <a:spAutoFit/>
          </a:bodyPr>
          <a:lstStyle/>
          <a:p>
            <a:pPr algn="l">
              <a:lnSpc>
                <a:spcPts val="6300"/>
              </a:lnSpc>
            </a:pPr>
            <a:r>
              <a:rPr lang="en-US" sz="3750">
                <a:solidFill>
                  <a:srgbClr val="000D43"/>
                </a:solidFill>
                <a:latin typeface="Times New Roman"/>
                <a:ea typeface="Times New Roman"/>
                <a:cs typeface="Times New Roman"/>
                <a:sym typeface="Times New Roman"/>
              </a:rPr>
              <a:t>STAFF / ADMIN SIDE</a:t>
            </a:r>
          </a:p>
          <a:p>
            <a:pPr algn="l">
              <a:lnSpc>
                <a:spcPts val="6300"/>
              </a:lnSpc>
            </a:pPr>
            <a:r>
              <a:rPr lang="en-US" sz="3750">
                <a:solidFill>
                  <a:srgbClr val="000D43"/>
                </a:solidFill>
                <a:latin typeface="Times New Roman"/>
                <a:ea typeface="Times New Roman"/>
                <a:cs typeface="Times New Roman"/>
                <a:sym typeface="Times New Roman"/>
              </a:rPr>
              <a:t>• Add new movies to the system</a:t>
            </a:r>
          </a:p>
          <a:p>
            <a:pPr algn="l">
              <a:lnSpc>
                <a:spcPts val="6300"/>
              </a:lnSpc>
            </a:pPr>
            <a:r>
              <a:rPr lang="en-US" sz="3750">
                <a:solidFill>
                  <a:srgbClr val="000D43"/>
                </a:solidFill>
                <a:latin typeface="Times New Roman"/>
                <a:ea typeface="Times New Roman"/>
                <a:cs typeface="Times New Roman"/>
                <a:sym typeface="Times New Roman"/>
              </a:rPr>
              <a:t> • Update movie ticket prices</a:t>
            </a:r>
          </a:p>
          <a:p>
            <a:pPr algn="l">
              <a:lnSpc>
                <a:spcPts val="6300"/>
              </a:lnSpc>
            </a:pPr>
            <a:r>
              <a:rPr lang="en-US" sz="3750">
                <a:solidFill>
                  <a:srgbClr val="000D43"/>
                </a:solidFill>
                <a:latin typeface="Times New Roman"/>
                <a:ea typeface="Times New Roman"/>
                <a:cs typeface="Times New Roman"/>
                <a:sym typeface="Times New Roman"/>
              </a:rPr>
              <a:t> • Delete movie records</a:t>
            </a:r>
          </a:p>
          <a:p>
            <a:pPr algn="l">
              <a:lnSpc>
                <a:spcPts val="6300"/>
              </a:lnSpc>
            </a:pPr>
            <a:r>
              <a:rPr lang="en-US" sz="3750">
                <a:solidFill>
                  <a:srgbClr val="000D43"/>
                </a:solidFill>
                <a:latin typeface="Times New Roman"/>
                <a:ea typeface="Times New Roman"/>
                <a:cs typeface="Times New Roman"/>
                <a:sym typeface="Times New Roman"/>
              </a:rPr>
              <a:t> • View available movie records</a:t>
            </a:r>
          </a:p>
          <a:p>
            <a:pPr algn="l">
              <a:lnSpc>
                <a:spcPts val="6300"/>
              </a:lnSpc>
            </a:pPr>
            <a:r>
              <a:rPr lang="en-US" sz="3750">
                <a:solidFill>
                  <a:srgbClr val="000D43"/>
                </a:solidFill>
                <a:latin typeface="Times New Roman"/>
                <a:ea typeface="Times New Roman"/>
                <a:cs typeface="Times New Roman"/>
                <a:sym typeface="Times New Roman"/>
              </a:rPr>
              <a:t> • View customer booking records</a:t>
            </a:r>
          </a:p>
          <a:p>
            <a:pPr algn="l">
              <a:lnSpc>
                <a:spcPts val="6300"/>
              </a:lnSpc>
            </a:pPr>
            <a:r>
              <a:rPr lang="en-US" sz="3750">
                <a:solidFill>
                  <a:srgbClr val="000D43"/>
                </a:solidFill>
                <a:latin typeface="Times New Roman"/>
                <a:ea typeface="Times New Roman"/>
                <a:cs typeface="Times New Roman"/>
                <a:sym typeface="Times New Roman"/>
              </a:rPr>
              <a:t> • Count bookings for a particular movie</a:t>
            </a:r>
          </a:p>
          <a:p>
            <a:pPr algn="l">
              <a:lnSpc>
                <a:spcPts val="6300"/>
              </a:lnSpc>
            </a:pPr>
            <a:r>
              <a:rPr lang="en-US" sz="3750">
                <a:solidFill>
                  <a:srgbClr val="000D43"/>
                </a:solidFill>
                <a:latin typeface="Times New Roman"/>
                <a:ea typeface="Times New Roman"/>
                <a:cs typeface="Times New Roman"/>
                <a:sym typeface="Times New Roman"/>
              </a:rPr>
              <a:t> • Manage movie and booking information using MySQL</a:t>
            </a:r>
          </a:p>
          <a:p>
            <a:pPr algn="l">
              <a:lnSpc>
                <a:spcPts val="6300"/>
              </a:lnSpc>
            </a:pPr>
          </a:p>
        </p:txBody>
      </p:sp>
      <p:sp>
        <p:nvSpPr>
          <p:cNvPr name="TextBox 5" id="5"/>
          <p:cNvSpPr txBox="true"/>
          <p:nvPr/>
        </p:nvSpPr>
        <p:spPr>
          <a:xfrm rot="0">
            <a:off x="0" y="135348"/>
            <a:ext cx="18044506" cy="2226754"/>
          </a:xfrm>
          <a:prstGeom prst="rect">
            <a:avLst/>
          </a:prstGeom>
        </p:spPr>
        <p:txBody>
          <a:bodyPr anchor="t" rtlCol="false" tIns="0" lIns="0" bIns="0" rIns="0">
            <a:spAutoFit/>
          </a:bodyPr>
          <a:lstStyle/>
          <a:p>
            <a:pPr algn="ctr">
              <a:lnSpc>
                <a:spcPts val="8506"/>
              </a:lnSpc>
            </a:pPr>
            <a:r>
              <a:rPr lang="en-US" b="true" sz="7950">
                <a:solidFill>
                  <a:srgbClr val="0C5BA6"/>
                </a:solidFill>
                <a:latin typeface="Times New Roman Bold"/>
                <a:ea typeface="Times New Roman Bold"/>
                <a:cs typeface="Times New Roman Bold"/>
                <a:sym typeface="Times New Roman Bold"/>
              </a:rPr>
              <a:t>M</a:t>
            </a:r>
            <a:r>
              <a:rPr lang="en-US" b="true" sz="7950">
                <a:solidFill>
                  <a:srgbClr val="0C5BA6"/>
                </a:solidFill>
                <a:latin typeface="Times New Roman Bold"/>
                <a:ea typeface="Times New Roman Bold"/>
                <a:cs typeface="Times New Roman Bold"/>
                <a:sym typeface="Times New Roman Bold"/>
              </a:rPr>
              <a:t>ODULE 3-MOVIE &amp; BOOKING MANAGEMENT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46824" y="-18270"/>
            <a:ext cx="7194352" cy="1165892"/>
          </a:xfrm>
          <a:prstGeom prst="rect">
            <a:avLst/>
          </a:prstGeom>
        </p:spPr>
        <p:txBody>
          <a:bodyPr anchor="t" rtlCol="false" tIns="0" lIns="0" bIns="0" rIns="0">
            <a:spAutoFit/>
          </a:bodyPr>
          <a:lstStyle/>
          <a:p>
            <a:pPr algn="ctr">
              <a:lnSpc>
                <a:spcPts val="9240"/>
              </a:lnSpc>
            </a:pPr>
            <a:r>
              <a:rPr lang="en-US" sz="6600">
                <a:solidFill>
                  <a:srgbClr val="FFFFFF"/>
                </a:solidFill>
                <a:latin typeface="Times New Roman"/>
                <a:ea typeface="Times New Roman"/>
                <a:cs typeface="Times New Roman"/>
                <a:sym typeface="Times New Roman"/>
              </a:rPr>
              <a:t>CLIENTS SECTION</a:t>
            </a:r>
          </a:p>
        </p:txBody>
      </p:sp>
      <p:sp>
        <p:nvSpPr>
          <p:cNvPr name="Freeform 3" id="3"/>
          <p:cNvSpPr/>
          <p:nvPr/>
        </p:nvSpPr>
        <p:spPr>
          <a:xfrm flipH="false" flipV="false" rot="0">
            <a:off x="0" y="0"/>
            <a:ext cx="1359995" cy="1331563"/>
          </a:xfrm>
          <a:custGeom>
            <a:avLst/>
            <a:gdLst/>
            <a:ahLst/>
            <a:cxnLst/>
            <a:rect r="r" b="b" t="t" l="l"/>
            <a:pathLst>
              <a:path h="1331563" w="1359995">
                <a:moveTo>
                  <a:pt x="0" y="0"/>
                </a:moveTo>
                <a:lnTo>
                  <a:pt x="1359995" y="0"/>
                </a:lnTo>
                <a:lnTo>
                  <a:pt x="1359995" y="1331563"/>
                </a:lnTo>
                <a:lnTo>
                  <a:pt x="0" y="1331563"/>
                </a:lnTo>
                <a:lnTo>
                  <a:pt x="0" y="0"/>
                </a:lnTo>
                <a:close/>
              </a:path>
            </a:pathLst>
          </a:custGeom>
          <a:blipFill>
            <a:blip r:embed="rId2"/>
            <a:stretch>
              <a:fillRect l="0" t="0" r="0" b="0"/>
            </a:stretch>
          </a:blipFill>
        </p:spPr>
      </p:sp>
      <p:sp>
        <p:nvSpPr>
          <p:cNvPr name="Freeform 4" id="4"/>
          <p:cNvSpPr/>
          <p:nvPr/>
        </p:nvSpPr>
        <p:spPr>
          <a:xfrm flipH="false" flipV="false" rot="0">
            <a:off x="16755494" y="0"/>
            <a:ext cx="1532506" cy="1291278"/>
          </a:xfrm>
          <a:custGeom>
            <a:avLst/>
            <a:gdLst/>
            <a:ahLst/>
            <a:cxnLst/>
            <a:rect r="r" b="b" t="t" l="l"/>
            <a:pathLst>
              <a:path h="1291278" w="1532506">
                <a:moveTo>
                  <a:pt x="0" y="0"/>
                </a:moveTo>
                <a:lnTo>
                  <a:pt x="1532506" y="0"/>
                </a:lnTo>
                <a:lnTo>
                  <a:pt x="1532506" y="1291278"/>
                </a:lnTo>
                <a:lnTo>
                  <a:pt x="0" y="1291278"/>
                </a:lnTo>
                <a:lnTo>
                  <a:pt x="0" y="0"/>
                </a:lnTo>
                <a:close/>
              </a:path>
            </a:pathLst>
          </a:custGeom>
          <a:blipFill>
            <a:blip r:embed="rId3"/>
            <a:stretch>
              <a:fillRect l="0" t="0" r="0" b="0"/>
            </a:stretch>
          </a:blipFill>
        </p:spPr>
      </p:sp>
      <p:sp>
        <p:nvSpPr>
          <p:cNvPr name="Freeform 5" id="5"/>
          <p:cNvSpPr/>
          <p:nvPr/>
        </p:nvSpPr>
        <p:spPr>
          <a:xfrm flipH="false" flipV="false" rot="0">
            <a:off x="1272397" y="2635412"/>
            <a:ext cx="15623971" cy="5836155"/>
          </a:xfrm>
          <a:custGeom>
            <a:avLst/>
            <a:gdLst/>
            <a:ahLst/>
            <a:cxnLst/>
            <a:rect r="r" b="b" t="t" l="l"/>
            <a:pathLst>
              <a:path h="5836155" w="15623971">
                <a:moveTo>
                  <a:pt x="0" y="0"/>
                </a:moveTo>
                <a:lnTo>
                  <a:pt x="15623971" y="0"/>
                </a:lnTo>
                <a:lnTo>
                  <a:pt x="15623971" y="5836155"/>
                </a:lnTo>
                <a:lnTo>
                  <a:pt x="0" y="5836155"/>
                </a:lnTo>
                <a:lnTo>
                  <a:pt x="0" y="0"/>
                </a:lnTo>
                <a:close/>
              </a:path>
            </a:pathLst>
          </a:custGeom>
          <a:blipFill>
            <a:blip r:embed="rId4"/>
            <a:stretch>
              <a:fillRect l="0" t="-5518" r="-16176" b="0"/>
            </a:stretch>
          </a:blipFill>
        </p:spPr>
      </p:sp>
      <p:sp>
        <p:nvSpPr>
          <p:cNvPr name="TextBox 6" id="6"/>
          <p:cNvSpPr txBox="true"/>
          <p:nvPr/>
        </p:nvSpPr>
        <p:spPr>
          <a:xfrm rot="0">
            <a:off x="1624372" y="229569"/>
            <a:ext cx="14920020"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CODE: MOVIE MANAGEMENT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6391"/>
            <a:ext cx="1359995" cy="1331563"/>
          </a:xfrm>
          <a:custGeom>
            <a:avLst/>
            <a:gdLst/>
            <a:ahLst/>
            <a:cxnLst/>
            <a:rect r="r" b="b" t="t" l="l"/>
            <a:pathLst>
              <a:path h="1331563" w="1359995">
                <a:moveTo>
                  <a:pt x="0" y="0"/>
                </a:moveTo>
                <a:lnTo>
                  <a:pt x="1359995" y="0"/>
                </a:lnTo>
                <a:lnTo>
                  <a:pt x="1359995" y="1331563"/>
                </a:lnTo>
                <a:lnTo>
                  <a:pt x="0" y="1331563"/>
                </a:lnTo>
                <a:lnTo>
                  <a:pt x="0" y="0"/>
                </a:lnTo>
                <a:close/>
              </a:path>
            </a:pathLst>
          </a:custGeom>
          <a:blipFill>
            <a:blip r:embed="rId2"/>
            <a:stretch>
              <a:fillRect l="0" t="0" r="0" b="0"/>
            </a:stretch>
          </a:blipFill>
        </p:spPr>
      </p:sp>
      <p:sp>
        <p:nvSpPr>
          <p:cNvPr name="Freeform 3" id="3"/>
          <p:cNvSpPr/>
          <p:nvPr/>
        </p:nvSpPr>
        <p:spPr>
          <a:xfrm flipH="false" flipV="false" rot="0">
            <a:off x="16755494" y="0"/>
            <a:ext cx="1532506" cy="1291278"/>
          </a:xfrm>
          <a:custGeom>
            <a:avLst/>
            <a:gdLst/>
            <a:ahLst/>
            <a:cxnLst/>
            <a:rect r="r" b="b" t="t" l="l"/>
            <a:pathLst>
              <a:path h="1291278" w="1532506">
                <a:moveTo>
                  <a:pt x="0" y="0"/>
                </a:moveTo>
                <a:lnTo>
                  <a:pt x="1532506" y="0"/>
                </a:lnTo>
                <a:lnTo>
                  <a:pt x="1532506" y="1291278"/>
                </a:lnTo>
                <a:lnTo>
                  <a:pt x="0" y="1291278"/>
                </a:lnTo>
                <a:lnTo>
                  <a:pt x="0" y="0"/>
                </a:lnTo>
                <a:close/>
              </a:path>
            </a:pathLst>
          </a:custGeom>
          <a:blipFill>
            <a:blip r:embed="rId3"/>
            <a:stretch>
              <a:fillRect l="0" t="0" r="0" b="0"/>
            </a:stretch>
          </a:blipFill>
        </p:spPr>
      </p:sp>
      <p:sp>
        <p:nvSpPr>
          <p:cNvPr name="Freeform 4" id="4"/>
          <p:cNvSpPr/>
          <p:nvPr/>
        </p:nvSpPr>
        <p:spPr>
          <a:xfrm flipH="false" flipV="false" rot="0">
            <a:off x="1652532" y="2397228"/>
            <a:ext cx="13154309" cy="7411330"/>
          </a:xfrm>
          <a:custGeom>
            <a:avLst/>
            <a:gdLst/>
            <a:ahLst/>
            <a:cxnLst/>
            <a:rect r="r" b="b" t="t" l="l"/>
            <a:pathLst>
              <a:path h="7411330" w="13154309">
                <a:moveTo>
                  <a:pt x="0" y="0"/>
                </a:moveTo>
                <a:lnTo>
                  <a:pt x="13154309" y="0"/>
                </a:lnTo>
                <a:lnTo>
                  <a:pt x="13154309" y="7411330"/>
                </a:lnTo>
                <a:lnTo>
                  <a:pt x="0" y="7411330"/>
                </a:lnTo>
                <a:lnTo>
                  <a:pt x="0" y="0"/>
                </a:lnTo>
                <a:close/>
              </a:path>
            </a:pathLst>
          </a:custGeom>
          <a:blipFill>
            <a:blip r:embed="rId4"/>
            <a:stretch>
              <a:fillRect l="0" t="0" r="-26565" b="0"/>
            </a:stretch>
          </a:blipFill>
        </p:spPr>
      </p:sp>
      <p:sp>
        <p:nvSpPr>
          <p:cNvPr name="TextBox 5" id="5"/>
          <p:cNvSpPr txBox="true"/>
          <p:nvPr/>
        </p:nvSpPr>
        <p:spPr>
          <a:xfrm rot="0">
            <a:off x="1028700" y="-106959"/>
            <a:ext cx="16135284"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OUTPUT: MOVIE MANAGEMENT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46824" y="-18270"/>
            <a:ext cx="7194352" cy="1165892"/>
          </a:xfrm>
          <a:prstGeom prst="rect">
            <a:avLst/>
          </a:prstGeom>
        </p:spPr>
        <p:txBody>
          <a:bodyPr anchor="t" rtlCol="false" tIns="0" lIns="0" bIns="0" rIns="0">
            <a:spAutoFit/>
          </a:bodyPr>
          <a:lstStyle/>
          <a:p>
            <a:pPr algn="ctr">
              <a:lnSpc>
                <a:spcPts val="9240"/>
              </a:lnSpc>
            </a:pPr>
            <a:r>
              <a:rPr lang="en-US" sz="6600">
                <a:solidFill>
                  <a:srgbClr val="FFFFFF"/>
                </a:solidFill>
                <a:latin typeface="Times New Roman"/>
                <a:ea typeface="Times New Roman"/>
                <a:cs typeface="Times New Roman"/>
                <a:sym typeface="Times New Roman"/>
              </a:rPr>
              <a:t>CLIENTS SECTION</a:t>
            </a:r>
          </a:p>
        </p:txBody>
      </p:sp>
      <p:sp>
        <p:nvSpPr>
          <p:cNvPr name="Freeform 3" id="3"/>
          <p:cNvSpPr/>
          <p:nvPr/>
        </p:nvSpPr>
        <p:spPr>
          <a:xfrm flipH="false" flipV="false" rot="0">
            <a:off x="0" y="0"/>
            <a:ext cx="1359995" cy="1331563"/>
          </a:xfrm>
          <a:custGeom>
            <a:avLst/>
            <a:gdLst/>
            <a:ahLst/>
            <a:cxnLst/>
            <a:rect r="r" b="b" t="t" l="l"/>
            <a:pathLst>
              <a:path h="1331563" w="1359995">
                <a:moveTo>
                  <a:pt x="0" y="0"/>
                </a:moveTo>
                <a:lnTo>
                  <a:pt x="1359995" y="0"/>
                </a:lnTo>
                <a:lnTo>
                  <a:pt x="1359995" y="1331563"/>
                </a:lnTo>
                <a:lnTo>
                  <a:pt x="0" y="1331563"/>
                </a:lnTo>
                <a:lnTo>
                  <a:pt x="0" y="0"/>
                </a:lnTo>
                <a:close/>
              </a:path>
            </a:pathLst>
          </a:custGeom>
          <a:blipFill>
            <a:blip r:embed="rId2"/>
            <a:stretch>
              <a:fillRect l="0" t="0" r="0" b="0"/>
            </a:stretch>
          </a:blipFill>
        </p:spPr>
      </p:sp>
      <p:sp>
        <p:nvSpPr>
          <p:cNvPr name="Freeform 4" id="4"/>
          <p:cNvSpPr/>
          <p:nvPr/>
        </p:nvSpPr>
        <p:spPr>
          <a:xfrm flipH="false" flipV="false" rot="0">
            <a:off x="16755494" y="0"/>
            <a:ext cx="1532506" cy="1291278"/>
          </a:xfrm>
          <a:custGeom>
            <a:avLst/>
            <a:gdLst/>
            <a:ahLst/>
            <a:cxnLst/>
            <a:rect r="r" b="b" t="t" l="l"/>
            <a:pathLst>
              <a:path h="1291278" w="1532506">
                <a:moveTo>
                  <a:pt x="0" y="0"/>
                </a:moveTo>
                <a:lnTo>
                  <a:pt x="1532506" y="0"/>
                </a:lnTo>
                <a:lnTo>
                  <a:pt x="1532506" y="1291278"/>
                </a:lnTo>
                <a:lnTo>
                  <a:pt x="0" y="1291278"/>
                </a:lnTo>
                <a:lnTo>
                  <a:pt x="0" y="0"/>
                </a:lnTo>
                <a:close/>
              </a:path>
            </a:pathLst>
          </a:custGeom>
          <a:blipFill>
            <a:blip r:embed="rId3"/>
            <a:stretch>
              <a:fillRect l="0" t="0" r="0" b="0"/>
            </a:stretch>
          </a:blipFill>
        </p:spPr>
      </p:sp>
      <p:sp>
        <p:nvSpPr>
          <p:cNvPr name="TextBox 5" id="5"/>
          <p:cNvSpPr txBox="true"/>
          <p:nvPr/>
        </p:nvSpPr>
        <p:spPr>
          <a:xfrm rot="0">
            <a:off x="679998" y="191280"/>
            <a:ext cx="17200846" cy="3298317"/>
          </a:xfrm>
          <a:prstGeom prst="rect">
            <a:avLst/>
          </a:prstGeom>
        </p:spPr>
        <p:txBody>
          <a:bodyPr anchor="t" rtlCol="false" tIns="0" lIns="0" bIns="0" rIns="0">
            <a:spAutoFit/>
          </a:bodyPr>
          <a:lstStyle/>
          <a:p>
            <a:pPr algn="ctr">
              <a:lnSpc>
                <a:spcPts val="8506"/>
              </a:lnSpc>
            </a:pPr>
            <a:r>
              <a:rPr lang="en-US" b="true" sz="7950">
                <a:solidFill>
                  <a:srgbClr val="0C5BA6"/>
                </a:solidFill>
                <a:latin typeface="Times New Roman Bold"/>
                <a:ea typeface="Times New Roman Bold"/>
                <a:cs typeface="Times New Roman Bold"/>
                <a:sym typeface="Times New Roman Bold"/>
              </a:rPr>
              <a:t>M</a:t>
            </a:r>
            <a:r>
              <a:rPr lang="en-US" b="true" sz="7950">
                <a:solidFill>
                  <a:srgbClr val="0C5BA6"/>
                </a:solidFill>
                <a:latin typeface="Times New Roman Bold"/>
                <a:ea typeface="Times New Roman Bold"/>
                <a:cs typeface="Times New Roman Bold"/>
                <a:sym typeface="Times New Roman Bold"/>
              </a:rPr>
              <a:t>ODULE 4-REPORTS,SNACKS</a:t>
            </a:r>
          </a:p>
          <a:p>
            <a:pPr algn="ctr">
              <a:lnSpc>
                <a:spcPts val="8506"/>
              </a:lnSpc>
            </a:pPr>
            <a:r>
              <a:rPr lang="en-US" b="true" sz="7950">
                <a:solidFill>
                  <a:srgbClr val="0C5BA6"/>
                </a:solidFill>
                <a:latin typeface="Times New Roman Bold"/>
                <a:ea typeface="Times New Roman Bold"/>
                <a:cs typeface="Times New Roman Bold"/>
                <a:sym typeface="Times New Roman Bold"/>
              </a:rPr>
              <a:t> &amp; </a:t>
            </a:r>
          </a:p>
          <a:p>
            <a:pPr algn="ctr">
              <a:lnSpc>
                <a:spcPts val="8506"/>
              </a:lnSpc>
            </a:pPr>
            <a:r>
              <a:rPr lang="en-US" b="true" sz="7950">
                <a:solidFill>
                  <a:srgbClr val="0C5BA6"/>
                </a:solidFill>
                <a:latin typeface="Times New Roman Bold"/>
                <a:ea typeface="Times New Roman Bold"/>
                <a:cs typeface="Times New Roman Bold"/>
                <a:sym typeface="Times New Roman Bold"/>
              </a:rPr>
              <a:t>BILLING MOST-WATCHED MOVIE </a:t>
            </a:r>
          </a:p>
        </p:txBody>
      </p:sp>
      <p:sp>
        <p:nvSpPr>
          <p:cNvPr name="TextBox 6" id="6"/>
          <p:cNvSpPr txBox="true"/>
          <p:nvPr/>
        </p:nvSpPr>
        <p:spPr>
          <a:xfrm rot="0">
            <a:off x="2202721" y="3719085"/>
            <a:ext cx="9312094" cy="6043613"/>
          </a:xfrm>
          <a:prstGeom prst="rect">
            <a:avLst/>
          </a:prstGeom>
        </p:spPr>
        <p:txBody>
          <a:bodyPr anchor="t" rtlCol="false" tIns="0" lIns="0" bIns="0" rIns="0">
            <a:spAutoFit/>
          </a:bodyPr>
          <a:lstStyle/>
          <a:p>
            <a:pPr algn="l">
              <a:lnSpc>
                <a:spcPts val="4012"/>
              </a:lnSpc>
            </a:pPr>
            <a:r>
              <a:rPr lang="en-US" sz="3750" b="true">
                <a:solidFill>
                  <a:srgbClr val="C5313E"/>
                </a:solidFill>
                <a:latin typeface="Times New Roman Bold"/>
                <a:ea typeface="Times New Roman Bold"/>
                <a:cs typeface="Times New Roman Bold"/>
                <a:sym typeface="Times New Roman Bold"/>
              </a:rPr>
              <a:t> </a:t>
            </a:r>
            <a:r>
              <a:rPr lang="en-US" b="true" sz="3750">
                <a:solidFill>
                  <a:srgbClr val="000000"/>
                </a:solidFill>
                <a:latin typeface="Times New Roman Bold"/>
                <a:ea typeface="Times New Roman Bold"/>
                <a:cs typeface="Times New Roman Bold"/>
                <a:sym typeface="Times New Roman Bold"/>
              </a:rPr>
              <a:t>Reports</a:t>
            </a:r>
          </a:p>
          <a:p>
            <a:pPr algn="l" marL="809625" indent="-404812" lvl="1">
              <a:lnSpc>
                <a:spcPts val="4012"/>
              </a:lnSpc>
              <a:buFont typeface="Arial"/>
              <a:buChar char="•"/>
            </a:pPr>
            <a:r>
              <a:rPr lang="en-US" sz="3750">
                <a:solidFill>
                  <a:srgbClr val="000000"/>
                </a:solidFill>
                <a:latin typeface="Times New Roman"/>
                <a:ea typeface="Times New Roman"/>
                <a:cs typeface="Times New Roman"/>
                <a:sym typeface="Times New Roman"/>
              </a:rPr>
              <a:t>Most-Watched Movie</a:t>
            </a:r>
          </a:p>
          <a:p>
            <a:pPr algn="l" marL="809625" indent="-404812" lvl="1">
              <a:lnSpc>
                <a:spcPts val="4012"/>
              </a:lnSpc>
              <a:buFont typeface="Arial"/>
              <a:buChar char="•"/>
            </a:pPr>
            <a:r>
              <a:rPr lang="en-US" sz="3750">
                <a:solidFill>
                  <a:srgbClr val="000000"/>
                </a:solidFill>
                <a:latin typeface="Times New Roman"/>
                <a:ea typeface="Times New Roman"/>
                <a:cs typeface="Times New Roman"/>
                <a:sym typeface="Times New Roman"/>
              </a:rPr>
              <a:t>Top 3 Most-Watched Movies</a:t>
            </a:r>
          </a:p>
          <a:p>
            <a:pPr algn="l">
              <a:lnSpc>
                <a:spcPts val="4012"/>
              </a:lnSpc>
            </a:pPr>
          </a:p>
          <a:p>
            <a:pPr algn="l">
              <a:lnSpc>
                <a:spcPts val="4012"/>
              </a:lnSpc>
            </a:pPr>
            <a:r>
              <a:rPr lang="en-US" b="true" sz="3750">
                <a:solidFill>
                  <a:srgbClr val="000000"/>
                </a:solidFill>
                <a:latin typeface="Times New Roman Bold"/>
                <a:ea typeface="Times New Roman Bold"/>
                <a:cs typeface="Times New Roman Bold"/>
                <a:sym typeface="Times New Roman Bold"/>
              </a:rPr>
              <a:t>Snacks</a:t>
            </a:r>
          </a:p>
          <a:p>
            <a:pPr algn="l" marL="809625" indent="-404812" lvl="1">
              <a:lnSpc>
                <a:spcPts val="4012"/>
              </a:lnSpc>
              <a:buFont typeface="Arial"/>
              <a:buChar char="•"/>
            </a:pPr>
            <a:r>
              <a:rPr lang="en-US" sz="3750">
                <a:solidFill>
                  <a:srgbClr val="000000"/>
                </a:solidFill>
                <a:latin typeface="Times New Roman"/>
                <a:ea typeface="Times New Roman"/>
                <a:cs typeface="Times New Roman"/>
                <a:sym typeface="Times New Roman"/>
              </a:rPr>
              <a:t>Show Snack Bill</a:t>
            </a:r>
          </a:p>
          <a:p>
            <a:pPr algn="l" marL="809625" indent="-404812" lvl="1">
              <a:lnSpc>
                <a:spcPts val="4012"/>
              </a:lnSpc>
              <a:buFont typeface="Arial"/>
              <a:buChar char="•"/>
            </a:pPr>
            <a:r>
              <a:rPr lang="en-US" sz="3750">
                <a:solidFill>
                  <a:srgbClr val="000000"/>
                </a:solidFill>
                <a:latin typeface="Times New Roman"/>
                <a:ea typeface="Times New Roman"/>
                <a:cs typeface="Times New Roman"/>
                <a:sym typeface="Times New Roman"/>
              </a:rPr>
              <a:t>Total Snack Amount</a:t>
            </a:r>
          </a:p>
          <a:p>
            <a:pPr algn="l" marL="809625" indent="-404812" lvl="1">
              <a:lnSpc>
                <a:spcPts val="4012"/>
              </a:lnSpc>
              <a:buFont typeface="Arial"/>
              <a:buChar char="•"/>
            </a:pPr>
            <a:r>
              <a:rPr lang="en-US" sz="3750">
                <a:solidFill>
                  <a:srgbClr val="000000"/>
                </a:solidFill>
                <a:latin typeface="Times New Roman"/>
                <a:ea typeface="Times New Roman"/>
                <a:cs typeface="Times New Roman"/>
                <a:sym typeface="Times New Roman"/>
              </a:rPr>
              <a:t>Most-Ordered Snack</a:t>
            </a:r>
          </a:p>
          <a:p>
            <a:pPr algn="l">
              <a:lnSpc>
                <a:spcPts val="4012"/>
              </a:lnSpc>
            </a:pPr>
          </a:p>
          <a:p>
            <a:pPr algn="l">
              <a:lnSpc>
                <a:spcPts val="4012"/>
              </a:lnSpc>
            </a:pPr>
            <a:r>
              <a:rPr lang="en-US" b="true" sz="3750">
                <a:solidFill>
                  <a:srgbClr val="000000"/>
                </a:solidFill>
                <a:latin typeface="Times New Roman Bold"/>
                <a:ea typeface="Times New Roman Bold"/>
                <a:cs typeface="Times New Roman Bold"/>
                <a:sym typeface="Times New Roman Bold"/>
              </a:rPr>
              <a:t> </a:t>
            </a:r>
            <a:r>
              <a:rPr lang="en-US" b="true" sz="3750">
                <a:solidFill>
                  <a:srgbClr val="000000"/>
                </a:solidFill>
                <a:latin typeface="Times New Roman Bold"/>
                <a:ea typeface="Times New Roman Bold"/>
                <a:cs typeface="Times New Roman Bold"/>
                <a:sym typeface="Times New Roman Bold"/>
              </a:rPr>
              <a:t>Billing</a:t>
            </a:r>
          </a:p>
          <a:p>
            <a:pPr algn="l" marL="809625" indent="-404812" lvl="1">
              <a:lnSpc>
                <a:spcPts val="4012"/>
              </a:lnSpc>
              <a:buFont typeface="Arial"/>
              <a:buChar char="•"/>
            </a:pPr>
            <a:r>
              <a:rPr lang="en-US" sz="3750">
                <a:solidFill>
                  <a:srgbClr val="000000"/>
                </a:solidFill>
                <a:latin typeface="Times New Roman"/>
                <a:ea typeface="Times New Roman"/>
                <a:cs typeface="Times New Roman"/>
                <a:sym typeface="Times New Roman"/>
              </a:rPr>
              <a:t>Combined Movie + Snack Bill</a:t>
            </a:r>
          </a:p>
          <a:p>
            <a:pPr algn="l" marL="809625" indent="-404812" lvl="1">
              <a:lnSpc>
                <a:spcPts val="4012"/>
              </a:lnSpc>
              <a:buFont typeface="Arial"/>
              <a:buChar char="•"/>
            </a:pPr>
            <a:r>
              <a:rPr lang="en-US" sz="3750">
                <a:solidFill>
                  <a:srgbClr val="000000"/>
                </a:solidFill>
                <a:latin typeface="Times New Roman"/>
                <a:ea typeface="Times New Roman"/>
                <a:cs typeface="Times New Roman"/>
                <a:sym typeface="Times New Roman"/>
              </a:rPr>
              <a:t>Displays final grand total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359995" cy="1331563"/>
          </a:xfrm>
          <a:custGeom>
            <a:avLst/>
            <a:gdLst/>
            <a:ahLst/>
            <a:cxnLst/>
            <a:rect r="r" b="b" t="t" l="l"/>
            <a:pathLst>
              <a:path h="1331563" w="1359995">
                <a:moveTo>
                  <a:pt x="0" y="0"/>
                </a:moveTo>
                <a:lnTo>
                  <a:pt x="1359995" y="0"/>
                </a:lnTo>
                <a:lnTo>
                  <a:pt x="1359995" y="1331563"/>
                </a:lnTo>
                <a:lnTo>
                  <a:pt x="0" y="1331563"/>
                </a:lnTo>
                <a:lnTo>
                  <a:pt x="0" y="0"/>
                </a:lnTo>
                <a:close/>
              </a:path>
            </a:pathLst>
          </a:custGeom>
          <a:blipFill>
            <a:blip r:embed="rId2"/>
            <a:stretch>
              <a:fillRect l="0" t="0" r="0" b="0"/>
            </a:stretch>
          </a:blipFill>
        </p:spPr>
      </p:sp>
      <p:sp>
        <p:nvSpPr>
          <p:cNvPr name="Freeform 3" id="3"/>
          <p:cNvSpPr/>
          <p:nvPr/>
        </p:nvSpPr>
        <p:spPr>
          <a:xfrm flipH="false" flipV="false" rot="0">
            <a:off x="16755494" y="0"/>
            <a:ext cx="1532506" cy="1291278"/>
          </a:xfrm>
          <a:custGeom>
            <a:avLst/>
            <a:gdLst/>
            <a:ahLst/>
            <a:cxnLst/>
            <a:rect r="r" b="b" t="t" l="l"/>
            <a:pathLst>
              <a:path h="1291278" w="1532506">
                <a:moveTo>
                  <a:pt x="0" y="0"/>
                </a:moveTo>
                <a:lnTo>
                  <a:pt x="1532506" y="0"/>
                </a:lnTo>
                <a:lnTo>
                  <a:pt x="1532506" y="1291278"/>
                </a:lnTo>
                <a:lnTo>
                  <a:pt x="0" y="1291278"/>
                </a:lnTo>
                <a:lnTo>
                  <a:pt x="0" y="0"/>
                </a:lnTo>
                <a:close/>
              </a:path>
            </a:pathLst>
          </a:custGeom>
          <a:blipFill>
            <a:blip r:embed="rId3"/>
            <a:stretch>
              <a:fillRect l="0" t="0" r="0" b="0"/>
            </a:stretch>
          </a:blipFill>
        </p:spPr>
      </p:sp>
      <p:sp>
        <p:nvSpPr>
          <p:cNvPr name="Freeform 4" id="4"/>
          <p:cNvSpPr/>
          <p:nvPr/>
        </p:nvSpPr>
        <p:spPr>
          <a:xfrm flipH="false" flipV="false" rot="0">
            <a:off x="1879239" y="1797326"/>
            <a:ext cx="14529521" cy="8085418"/>
          </a:xfrm>
          <a:custGeom>
            <a:avLst/>
            <a:gdLst/>
            <a:ahLst/>
            <a:cxnLst/>
            <a:rect r="r" b="b" t="t" l="l"/>
            <a:pathLst>
              <a:path h="8085418" w="14529521">
                <a:moveTo>
                  <a:pt x="0" y="0"/>
                </a:moveTo>
                <a:lnTo>
                  <a:pt x="14529522" y="0"/>
                </a:lnTo>
                <a:lnTo>
                  <a:pt x="14529522" y="8085417"/>
                </a:lnTo>
                <a:lnTo>
                  <a:pt x="0" y="8085417"/>
                </a:lnTo>
                <a:lnTo>
                  <a:pt x="0" y="0"/>
                </a:lnTo>
                <a:close/>
              </a:path>
            </a:pathLst>
          </a:custGeom>
          <a:blipFill>
            <a:blip r:embed="rId4"/>
            <a:stretch>
              <a:fillRect l="0" t="0" r="-12655" b="0"/>
            </a:stretch>
          </a:blipFill>
        </p:spPr>
      </p:sp>
      <p:sp>
        <p:nvSpPr>
          <p:cNvPr name="TextBox 5" id="5"/>
          <p:cNvSpPr txBox="true"/>
          <p:nvPr/>
        </p:nvSpPr>
        <p:spPr>
          <a:xfrm rot="0">
            <a:off x="1718890" y="-56370"/>
            <a:ext cx="14850220" cy="1398237"/>
          </a:xfrm>
          <a:prstGeom prst="rect">
            <a:avLst/>
          </a:prstGeom>
        </p:spPr>
        <p:txBody>
          <a:bodyPr anchor="t" rtlCol="false" tIns="0" lIns="0" bIns="0" rIns="0">
            <a:spAutoFit/>
          </a:bodyPr>
          <a:lstStyle/>
          <a:p>
            <a:pPr algn="ctr">
              <a:lnSpc>
                <a:spcPts val="11130"/>
              </a:lnSpc>
            </a:pPr>
            <a:r>
              <a:rPr lang="en-US" b="true" sz="7950">
                <a:solidFill>
                  <a:srgbClr val="0C5BA6"/>
                </a:solidFill>
                <a:latin typeface="Times New Roman Bold"/>
                <a:ea typeface="Times New Roman Bold"/>
                <a:cs typeface="Times New Roman Bold"/>
                <a:sym typeface="Times New Roman Bold"/>
              </a:rPr>
              <a:t>CODE: SNACKS BILLING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359995" cy="1331563"/>
          </a:xfrm>
          <a:custGeom>
            <a:avLst/>
            <a:gdLst/>
            <a:ahLst/>
            <a:cxnLst/>
            <a:rect r="r" b="b" t="t" l="l"/>
            <a:pathLst>
              <a:path h="1331563" w="1359995">
                <a:moveTo>
                  <a:pt x="0" y="0"/>
                </a:moveTo>
                <a:lnTo>
                  <a:pt x="1359995" y="0"/>
                </a:lnTo>
                <a:lnTo>
                  <a:pt x="1359995" y="1331563"/>
                </a:lnTo>
                <a:lnTo>
                  <a:pt x="0" y="1331563"/>
                </a:lnTo>
                <a:lnTo>
                  <a:pt x="0" y="0"/>
                </a:lnTo>
                <a:close/>
              </a:path>
            </a:pathLst>
          </a:custGeom>
          <a:blipFill>
            <a:blip r:embed="rId2"/>
            <a:stretch>
              <a:fillRect l="0" t="0" r="0" b="0"/>
            </a:stretch>
          </a:blipFill>
        </p:spPr>
      </p:sp>
      <p:sp>
        <p:nvSpPr>
          <p:cNvPr name="Freeform 3" id="3"/>
          <p:cNvSpPr/>
          <p:nvPr/>
        </p:nvSpPr>
        <p:spPr>
          <a:xfrm flipH="false" flipV="false" rot="0">
            <a:off x="16755494" y="0"/>
            <a:ext cx="1532506" cy="1291278"/>
          </a:xfrm>
          <a:custGeom>
            <a:avLst/>
            <a:gdLst/>
            <a:ahLst/>
            <a:cxnLst/>
            <a:rect r="r" b="b" t="t" l="l"/>
            <a:pathLst>
              <a:path h="1291278" w="1532506">
                <a:moveTo>
                  <a:pt x="0" y="0"/>
                </a:moveTo>
                <a:lnTo>
                  <a:pt x="1532506" y="0"/>
                </a:lnTo>
                <a:lnTo>
                  <a:pt x="1532506" y="1291278"/>
                </a:lnTo>
                <a:lnTo>
                  <a:pt x="0" y="1291278"/>
                </a:lnTo>
                <a:lnTo>
                  <a:pt x="0" y="0"/>
                </a:lnTo>
                <a:close/>
              </a:path>
            </a:pathLst>
          </a:custGeom>
          <a:blipFill>
            <a:blip r:embed="rId3"/>
            <a:stretch>
              <a:fillRect l="0" t="0" r="0" b="0"/>
            </a:stretch>
          </a:blipFill>
        </p:spPr>
      </p:sp>
      <p:sp>
        <p:nvSpPr>
          <p:cNvPr name="TextBox 4" id="4"/>
          <p:cNvSpPr txBox="true"/>
          <p:nvPr/>
        </p:nvSpPr>
        <p:spPr>
          <a:xfrm rot="0">
            <a:off x="-513136" y="-86264"/>
            <a:ext cx="19314271"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OUTPUT: SNACKS BILLING</a:t>
            </a:r>
          </a:p>
        </p:txBody>
      </p:sp>
      <p:sp>
        <p:nvSpPr>
          <p:cNvPr name="Freeform 5" id="5"/>
          <p:cNvSpPr/>
          <p:nvPr/>
        </p:nvSpPr>
        <p:spPr>
          <a:xfrm flipH="false" flipV="false" rot="0">
            <a:off x="1906599" y="1511692"/>
            <a:ext cx="12755315" cy="8453522"/>
          </a:xfrm>
          <a:custGeom>
            <a:avLst/>
            <a:gdLst/>
            <a:ahLst/>
            <a:cxnLst/>
            <a:rect r="r" b="b" t="t" l="l"/>
            <a:pathLst>
              <a:path h="8453522" w="12755315">
                <a:moveTo>
                  <a:pt x="0" y="0"/>
                </a:moveTo>
                <a:lnTo>
                  <a:pt x="12755314" y="0"/>
                </a:lnTo>
                <a:lnTo>
                  <a:pt x="12755314" y="8453522"/>
                </a:lnTo>
                <a:lnTo>
                  <a:pt x="0" y="8453522"/>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1554037" y="2109620"/>
            <a:ext cx="19479090" cy="7539633"/>
          </a:xfrm>
          <a:prstGeom prst="rect">
            <a:avLst/>
          </a:prstGeom>
        </p:spPr>
        <p:txBody>
          <a:bodyPr anchor="t" rtlCol="false" tIns="0" lIns="0" bIns="0" rIns="0">
            <a:spAutoFit/>
          </a:bodyPr>
          <a:lstStyle/>
          <a:p>
            <a:pPr algn="l">
              <a:lnSpc>
                <a:spcPts val="6675"/>
              </a:lnSpc>
            </a:pPr>
            <a:r>
              <a:rPr lang="en-US" sz="3750">
                <a:solidFill>
                  <a:srgbClr val="000D43"/>
                </a:solidFill>
                <a:latin typeface="Times New Roman"/>
                <a:ea typeface="Times New Roman"/>
                <a:cs typeface="Times New Roman"/>
                <a:sym typeface="Times New Roman"/>
              </a:rPr>
              <a:t>•</a:t>
            </a:r>
            <a:r>
              <a:rPr lang="en-US" sz="3750">
                <a:solidFill>
                  <a:srgbClr val="000D43"/>
                </a:solidFill>
                <a:latin typeface="Times New Roman"/>
                <a:ea typeface="Times New Roman"/>
                <a:cs typeface="Times New Roman"/>
                <a:sym typeface="Times New Roman"/>
              </a:rPr>
              <a:t> Developed using Python programming.</a:t>
            </a:r>
          </a:p>
          <a:p>
            <a:pPr algn="l">
              <a:lnSpc>
                <a:spcPts val="6675"/>
              </a:lnSpc>
            </a:pPr>
            <a:r>
              <a:rPr lang="en-US" sz="3750">
                <a:solidFill>
                  <a:srgbClr val="000D43"/>
                </a:solidFill>
                <a:latin typeface="Times New Roman"/>
                <a:ea typeface="Times New Roman"/>
                <a:cs typeface="Times New Roman"/>
                <a:sym typeface="Times New Roman"/>
              </a:rPr>
              <a:t> • MySQL is used for persistent data storage.</a:t>
            </a:r>
          </a:p>
          <a:p>
            <a:pPr algn="l">
              <a:lnSpc>
                <a:spcPts val="6675"/>
              </a:lnSpc>
            </a:pPr>
            <a:r>
              <a:rPr lang="en-US" sz="3750">
                <a:solidFill>
                  <a:srgbClr val="000D43"/>
                </a:solidFill>
                <a:latin typeface="Times New Roman"/>
                <a:ea typeface="Times New Roman"/>
                <a:cs typeface="Times New Roman"/>
                <a:sym typeface="Times New Roman"/>
              </a:rPr>
              <a:t> • mysql.connector provides database connectivity.</a:t>
            </a:r>
          </a:p>
          <a:p>
            <a:pPr algn="l">
              <a:lnSpc>
                <a:spcPts val="6675"/>
              </a:lnSpc>
            </a:pPr>
            <a:r>
              <a:rPr lang="en-US" sz="3750">
                <a:solidFill>
                  <a:srgbClr val="000D43"/>
                </a:solidFill>
                <a:latin typeface="Times New Roman"/>
                <a:ea typeface="Times New Roman"/>
                <a:cs typeface="Times New Roman"/>
                <a:sym typeface="Times New Roman"/>
              </a:rPr>
              <a:t> • Functions are used to organize different operations.</a:t>
            </a:r>
          </a:p>
          <a:p>
            <a:pPr algn="l">
              <a:lnSpc>
                <a:spcPts val="6675"/>
              </a:lnSpc>
            </a:pPr>
            <a:r>
              <a:rPr lang="en-US" sz="3750">
                <a:solidFill>
                  <a:srgbClr val="000D43"/>
                </a:solidFill>
                <a:latin typeface="Times New Roman"/>
                <a:ea typeface="Times New Roman"/>
                <a:cs typeface="Times New Roman"/>
                <a:sym typeface="Times New Roman"/>
              </a:rPr>
              <a:t> • SQL queries perform database operations.</a:t>
            </a:r>
          </a:p>
          <a:p>
            <a:pPr algn="l">
              <a:lnSpc>
                <a:spcPts val="6675"/>
              </a:lnSpc>
            </a:pPr>
            <a:r>
              <a:rPr lang="en-US" sz="3750">
                <a:solidFill>
                  <a:srgbClr val="000D43"/>
                </a:solidFill>
                <a:latin typeface="Times New Roman"/>
                <a:ea typeface="Times New Roman"/>
                <a:cs typeface="Times New Roman"/>
                <a:sym typeface="Times New Roman"/>
              </a:rPr>
              <a:t> • Exception handling manages invalid inputs and database errors.</a:t>
            </a:r>
          </a:p>
          <a:p>
            <a:pPr algn="l">
              <a:lnSpc>
                <a:spcPts val="6675"/>
              </a:lnSpc>
            </a:pPr>
            <a:r>
              <a:rPr lang="en-US" sz="3750">
                <a:solidFill>
                  <a:srgbClr val="000D43"/>
                </a:solidFill>
                <a:latin typeface="Times New Roman"/>
                <a:ea typeface="Times New Roman"/>
                <a:cs typeface="Times New Roman"/>
                <a:sym typeface="Times New Roman"/>
              </a:rPr>
              <a:t> • Separate Staff and Customer portals are implemented.</a:t>
            </a:r>
          </a:p>
          <a:p>
            <a:pPr algn="l">
              <a:lnSpc>
                <a:spcPts val="6675"/>
              </a:lnSpc>
            </a:pPr>
            <a:r>
              <a:rPr lang="en-US" sz="3750">
                <a:solidFill>
                  <a:srgbClr val="000D43"/>
                </a:solidFill>
                <a:latin typeface="Times New Roman"/>
                <a:ea typeface="Times New Roman"/>
                <a:cs typeface="Times New Roman"/>
                <a:sym typeface="Times New Roman"/>
              </a:rPr>
              <a:t> • Database connection is closed when the program exits.</a:t>
            </a:r>
          </a:p>
          <a:p>
            <a:pPr algn="l">
              <a:lnSpc>
                <a:spcPts val="6675"/>
              </a:lnSpc>
            </a:pPr>
          </a:p>
        </p:txBody>
      </p:sp>
      <p:sp>
        <p:nvSpPr>
          <p:cNvPr name="TextBox 5" id="5"/>
          <p:cNvSpPr txBox="true"/>
          <p:nvPr/>
        </p:nvSpPr>
        <p:spPr>
          <a:xfrm rot="0">
            <a:off x="4117187" y="282654"/>
            <a:ext cx="9751220"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 IMPLEMENTAT</a:t>
            </a:r>
            <a:r>
              <a:rPr lang="en-US" b="true" sz="7950">
                <a:solidFill>
                  <a:srgbClr val="0C5BA6"/>
                </a:solidFill>
                <a:latin typeface="Times New Roman Bold"/>
                <a:ea typeface="Times New Roman Bold"/>
                <a:cs typeface="Times New Roman Bold"/>
                <a:sym typeface="Times New Roman Bold"/>
              </a:rPr>
              <a: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324245" y="2342284"/>
            <a:ext cx="19479090" cy="6696605"/>
          </a:xfrm>
          <a:prstGeom prst="rect">
            <a:avLst/>
          </a:prstGeom>
        </p:spPr>
        <p:txBody>
          <a:bodyPr anchor="t" rtlCol="false" tIns="0" lIns="0" bIns="0" rIns="0">
            <a:spAutoFit/>
          </a:bodyPr>
          <a:lstStyle/>
          <a:p>
            <a:pPr algn="l">
              <a:lnSpc>
                <a:spcPts val="6675"/>
              </a:lnSpc>
            </a:pPr>
            <a:r>
              <a:rPr lang="en-US" sz="3750">
                <a:solidFill>
                  <a:srgbClr val="000D43"/>
                </a:solidFill>
                <a:latin typeface="Times New Roman"/>
                <a:ea typeface="Times New Roman"/>
                <a:cs typeface="Times New Roman"/>
                <a:sym typeface="Times New Roman"/>
              </a:rPr>
              <a:t>•</a:t>
            </a:r>
            <a:r>
              <a:rPr lang="en-US" sz="3750">
                <a:solidFill>
                  <a:srgbClr val="000D43"/>
                </a:solidFill>
                <a:latin typeface="Times New Roman"/>
                <a:ea typeface="Times New Roman"/>
                <a:cs typeface="Times New Roman"/>
                <a:sym typeface="Times New Roman"/>
              </a:rPr>
              <a:t> Python successfully connected with MySQL.</a:t>
            </a:r>
          </a:p>
          <a:p>
            <a:pPr algn="l">
              <a:lnSpc>
                <a:spcPts val="6675"/>
              </a:lnSpc>
            </a:pPr>
            <a:r>
              <a:rPr lang="en-US" sz="3750">
                <a:solidFill>
                  <a:srgbClr val="000D43"/>
                </a:solidFill>
                <a:latin typeface="Times New Roman"/>
                <a:ea typeface="Times New Roman"/>
                <a:cs typeface="Times New Roman"/>
                <a:sym typeface="Times New Roman"/>
              </a:rPr>
              <a:t> • Movie records were successfully displayed and managed.</a:t>
            </a:r>
          </a:p>
          <a:p>
            <a:pPr algn="l">
              <a:lnSpc>
                <a:spcPts val="6675"/>
              </a:lnSpc>
            </a:pPr>
            <a:r>
              <a:rPr lang="en-US" sz="3750">
                <a:solidFill>
                  <a:srgbClr val="000D43"/>
                </a:solidFill>
                <a:latin typeface="Times New Roman"/>
                <a:ea typeface="Times New Roman"/>
                <a:cs typeface="Times New Roman"/>
                <a:sym typeface="Times New Roman"/>
              </a:rPr>
              <a:t> • Ticket bookings were successfully stored.</a:t>
            </a:r>
          </a:p>
          <a:p>
            <a:pPr algn="l">
              <a:lnSpc>
                <a:spcPts val="6675"/>
              </a:lnSpc>
            </a:pPr>
            <a:r>
              <a:rPr lang="en-US" sz="3750">
                <a:solidFill>
                  <a:srgbClr val="000D43"/>
                </a:solidFill>
                <a:latin typeface="Times New Roman"/>
                <a:ea typeface="Times New Roman"/>
                <a:cs typeface="Times New Roman"/>
                <a:sym typeface="Times New Roman"/>
              </a:rPr>
              <a:t> • Booking cancellation was implemented.</a:t>
            </a:r>
          </a:p>
          <a:p>
            <a:pPr algn="l">
              <a:lnSpc>
                <a:spcPts val="6675"/>
              </a:lnSpc>
            </a:pPr>
            <a:r>
              <a:rPr lang="en-US" sz="3750">
                <a:solidFill>
                  <a:srgbClr val="000D43"/>
                </a:solidFill>
                <a:latin typeface="Times New Roman"/>
                <a:ea typeface="Times New Roman"/>
                <a:cs typeface="Times New Roman"/>
                <a:sym typeface="Times New Roman"/>
              </a:rPr>
              <a:t> • Snack orders and bills were successfully calculated.</a:t>
            </a:r>
          </a:p>
          <a:p>
            <a:pPr algn="l">
              <a:lnSpc>
                <a:spcPts val="6675"/>
              </a:lnSpc>
            </a:pPr>
            <a:r>
              <a:rPr lang="en-US" sz="3750">
                <a:solidFill>
                  <a:srgbClr val="000D43"/>
                </a:solidFill>
                <a:latin typeface="Times New Roman"/>
                <a:ea typeface="Times New Roman"/>
                <a:cs typeface="Times New Roman"/>
                <a:sym typeface="Times New Roman"/>
              </a:rPr>
              <a:t> • Ratings and reviews were stored in the database.</a:t>
            </a:r>
          </a:p>
          <a:p>
            <a:pPr algn="l">
              <a:lnSpc>
                <a:spcPts val="6675"/>
              </a:lnSpc>
            </a:pPr>
            <a:r>
              <a:rPr lang="en-US" sz="3750">
                <a:solidFill>
                  <a:srgbClr val="000D43"/>
                </a:solidFill>
                <a:latin typeface="Times New Roman"/>
                <a:ea typeface="Times New Roman"/>
                <a:cs typeface="Times New Roman"/>
                <a:sym typeface="Times New Roman"/>
              </a:rPr>
              <a:t> • Most-watched movie and top movie reports were generated.</a:t>
            </a:r>
          </a:p>
          <a:p>
            <a:pPr algn="l">
              <a:lnSpc>
                <a:spcPts val="6675"/>
              </a:lnSpc>
            </a:pPr>
            <a:r>
              <a:rPr lang="en-US" sz="3750">
                <a:solidFill>
                  <a:srgbClr val="000D43"/>
                </a:solidFill>
                <a:latin typeface="Times New Roman"/>
                <a:ea typeface="Times New Roman"/>
                <a:cs typeface="Times New Roman"/>
                <a:sym typeface="Times New Roman"/>
              </a:rPr>
              <a:t> • Staff and Customer portals worked successfully.</a:t>
            </a:r>
          </a:p>
        </p:txBody>
      </p:sp>
      <p:sp>
        <p:nvSpPr>
          <p:cNvPr name="TextBox 5" id="5"/>
          <p:cNvSpPr txBox="true"/>
          <p:nvPr/>
        </p:nvSpPr>
        <p:spPr>
          <a:xfrm rot="0">
            <a:off x="2852892" y="99631"/>
            <a:ext cx="12279809"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 RESULTS &amp; DIS</a:t>
            </a:r>
            <a:r>
              <a:rPr lang="en-US" b="true" sz="7950">
                <a:solidFill>
                  <a:srgbClr val="0C5BA6"/>
                </a:solidFill>
                <a:latin typeface="Times New Roman Bold"/>
                <a:ea typeface="Times New Roman Bold"/>
                <a:cs typeface="Times New Roman Bold"/>
                <a:sym typeface="Times New Roman Bold"/>
              </a:rPr>
              <a:t>CUSSION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1028700" y="2884636"/>
            <a:ext cx="19479090" cy="5010547"/>
          </a:xfrm>
          <a:prstGeom prst="rect">
            <a:avLst/>
          </a:prstGeom>
        </p:spPr>
        <p:txBody>
          <a:bodyPr anchor="t" rtlCol="false" tIns="0" lIns="0" bIns="0" rIns="0">
            <a:spAutoFit/>
          </a:bodyPr>
          <a:lstStyle/>
          <a:p>
            <a:pPr algn="l">
              <a:lnSpc>
                <a:spcPts val="6675"/>
              </a:lnSpc>
            </a:pPr>
            <a:r>
              <a:rPr lang="en-US" sz="3750">
                <a:solidFill>
                  <a:srgbClr val="000D43"/>
                </a:solidFill>
                <a:latin typeface="Times New Roman"/>
                <a:ea typeface="Times New Roman"/>
                <a:cs typeface="Times New Roman"/>
                <a:sym typeface="Times New Roman"/>
              </a:rPr>
              <a:t>• R</a:t>
            </a:r>
            <a:r>
              <a:rPr lang="en-US" sz="3750">
                <a:solidFill>
                  <a:srgbClr val="000D43"/>
                </a:solidFill>
                <a:latin typeface="Times New Roman"/>
                <a:ea typeface="Times New Roman"/>
                <a:cs typeface="Times New Roman"/>
                <a:sym typeface="Times New Roman"/>
              </a:rPr>
              <a:t>eal-time seat availability is not maintained in the database.</a:t>
            </a:r>
          </a:p>
          <a:p>
            <a:pPr algn="l">
              <a:lnSpc>
                <a:spcPts val="6675"/>
              </a:lnSpc>
            </a:pPr>
            <a:r>
              <a:rPr lang="en-US" sz="3750">
                <a:solidFill>
                  <a:srgbClr val="000D43"/>
                </a:solidFill>
                <a:latin typeface="Times New Roman"/>
                <a:ea typeface="Times New Roman"/>
                <a:cs typeface="Times New Roman"/>
                <a:sym typeface="Times New Roman"/>
              </a:rPr>
              <a:t> • Staff passwords are predefined in the Python source code.</a:t>
            </a:r>
          </a:p>
          <a:p>
            <a:pPr algn="l">
              <a:lnSpc>
                <a:spcPts val="6675"/>
              </a:lnSpc>
            </a:pPr>
            <a:r>
              <a:rPr lang="en-US" sz="3750">
                <a:solidFill>
                  <a:srgbClr val="000D43"/>
                </a:solidFill>
                <a:latin typeface="Times New Roman"/>
                <a:ea typeface="Times New Roman"/>
                <a:cs typeface="Times New Roman"/>
                <a:sym typeface="Times New Roman"/>
              </a:rPr>
              <a:t> • Customer authentication is basic.</a:t>
            </a:r>
          </a:p>
          <a:p>
            <a:pPr algn="l">
              <a:lnSpc>
                <a:spcPts val="6675"/>
              </a:lnSpc>
            </a:pPr>
            <a:r>
              <a:rPr lang="en-US" sz="3750">
                <a:solidFill>
                  <a:srgbClr val="000D43"/>
                </a:solidFill>
                <a:latin typeface="Times New Roman"/>
                <a:ea typeface="Times New Roman"/>
                <a:cs typeface="Times New Roman"/>
                <a:sym typeface="Times New Roman"/>
              </a:rPr>
              <a:t> • The system is console-based.</a:t>
            </a:r>
          </a:p>
          <a:p>
            <a:pPr algn="l">
              <a:lnSpc>
                <a:spcPts val="6675"/>
              </a:lnSpc>
            </a:pPr>
            <a:r>
              <a:rPr lang="en-US" sz="3750">
                <a:solidFill>
                  <a:srgbClr val="000D43"/>
                </a:solidFill>
                <a:latin typeface="Times New Roman"/>
                <a:ea typeface="Times New Roman"/>
                <a:cs typeface="Times New Roman"/>
                <a:sym typeface="Times New Roman"/>
              </a:rPr>
              <a:t> • Online payment integration is not implemented.</a:t>
            </a:r>
          </a:p>
          <a:p>
            <a:pPr algn="l">
              <a:lnSpc>
                <a:spcPts val="6675"/>
              </a:lnSpc>
            </a:pPr>
            <a:r>
              <a:rPr lang="en-US" sz="3750">
                <a:solidFill>
                  <a:srgbClr val="000D43"/>
                </a:solidFill>
                <a:latin typeface="Times New Roman"/>
                <a:ea typeface="Times New Roman"/>
                <a:cs typeface="Times New Roman"/>
                <a:sym typeface="Times New Roman"/>
              </a:rPr>
              <a:t> • Theatre and screen information is predefined in the Python program.</a:t>
            </a:r>
          </a:p>
        </p:txBody>
      </p:sp>
      <p:sp>
        <p:nvSpPr>
          <p:cNvPr name="TextBox 5" id="5"/>
          <p:cNvSpPr txBox="true"/>
          <p:nvPr/>
        </p:nvSpPr>
        <p:spPr>
          <a:xfrm rot="0">
            <a:off x="1560711" y="97582"/>
            <a:ext cx="15166579"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CHALLENGES &amp; LIMITATIONS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1528930" y="2255673"/>
            <a:ext cx="19479090" cy="6696605"/>
          </a:xfrm>
          <a:prstGeom prst="rect">
            <a:avLst/>
          </a:prstGeom>
        </p:spPr>
        <p:txBody>
          <a:bodyPr anchor="t" rtlCol="false" tIns="0" lIns="0" bIns="0" rIns="0">
            <a:spAutoFit/>
          </a:bodyPr>
          <a:lstStyle/>
          <a:p>
            <a:pPr algn="l">
              <a:lnSpc>
                <a:spcPts val="6675"/>
              </a:lnSpc>
            </a:pPr>
            <a:r>
              <a:rPr lang="en-US" sz="3750">
                <a:solidFill>
                  <a:srgbClr val="000D43"/>
                </a:solidFill>
                <a:latin typeface="Times New Roman"/>
                <a:ea typeface="Times New Roman"/>
                <a:cs typeface="Times New Roman"/>
                <a:sym typeface="Times New Roman"/>
              </a:rPr>
              <a:t> • Add real-time seat availability.</a:t>
            </a:r>
          </a:p>
          <a:p>
            <a:pPr algn="l">
              <a:lnSpc>
                <a:spcPts val="6675"/>
              </a:lnSpc>
            </a:pPr>
            <a:r>
              <a:rPr lang="en-US" sz="3750">
                <a:solidFill>
                  <a:srgbClr val="000D43"/>
                </a:solidFill>
                <a:latin typeface="Times New Roman"/>
                <a:ea typeface="Times New Roman"/>
                <a:cs typeface="Times New Roman"/>
                <a:sym typeface="Times New Roman"/>
              </a:rPr>
              <a:t> • Add online payment integration.</a:t>
            </a:r>
          </a:p>
          <a:p>
            <a:pPr algn="l">
              <a:lnSpc>
                <a:spcPts val="6675"/>
              </a:lnSpc>
            </a:pPr>
            <a:r>
              <a:rPr lang="en-US" sz="3750">
                <a:solidFill>
                  <a:srgbClr val="000D43"/>
                </a:solidFill>
                <a:latin typeface="Times New Roman"/>
                <a:ea typeface="Times New Roman"/>
                <a:cs typeface="Times New Roman"/>
                <a:sym typeface="Times New Roman"/>
              </a:rPr>
              <a:t> • Add email/SMS booking confirmation.</a:t>
            </a:r>
          </a:p>
          <a:p>
            <a:pPr algn="l">
              <a:lnSpc>
                <a:spcPts val="6675"/>
              </a:lnSpc>
            </a:pPr>
            <a:r>
              <a:rPr lang="en-US" sz="3750">
                <a:solidFill>
                  <a:srgbClr val="000D43"/>
                </a:solidFill>
                <a:latin typeface="Times New Roman"/>
                <a:ea typeface="Times New Roman"/>
                <a:cs typeface="Times New Roman"/>
                <a:sym typeface="Times New Roman"/>
              </a:rPr>
              <a:t> • Add administrator role management.</a:t>
            </a:r>
          </a:p>
          <a:p>
            <a:pPr algn="l">
              <a:lnSpc>
                <a:spcPts val="6675"/>
              </a:lnSpc>
            </a:pPr>
            <a:r>
              <a:rPr lang="en-US" sz="3750">
                <a:solidFill>
                  <a:srgbClr val="000D43"/>
                </a:solidFill>
                <a:latin typeface="Times New Roman"/>
                <a:ea typeface="Times New Roman"/>
                <a:cs typeface="Times New Roman"/>
                <a:sym typeface="Times New Roman"/>
              </a:rPr>
              <a:t> • Add dedicated theatre, screen and seat tables.</a:t>
            </a:r>
          </a:p>
          <a:p>
            <a:pPr algn="l">
              <a:lnSpc>
                <a:spcPts val="6675"/>
              </a:lnSpc>
            </a:pPr>
            <a:r>
              <a:rPr lang="en-US" sz="3750">
                <a:solidFill>
                  <a:srgbClr val="000D43"/>
                </a:solidFill>
                <a:latin typeface="Times New Roman"/>
                <a:ea typeface="Times New Roman"/>
                <a:cs typeface="Times New Roman"/>
                <a:sym typeface="Times New Roman"/>
              </a:rPr>
              <a:t> • Add movie posters and trailers.</a:t>
            </a:r>
          </a:p>
          <a:p>
            <a:pPr algn="l">
              <a:lnSpc>
                <a:spcPts val="6675"/>
              </a:lnSpc>
            </a:pPr>
            <a:r>
              <a:rPr lang="en-US" sz="3750">
                <a:solidFill>
                  <a:srgbClr val="000D43"/>
                </a:solidFill>
                <a:latin typeface="Times New Roman"/>
                <a:ea typeface="Times New Roman"/>
                <a:cs typeface="Times New Roman"/>
                <a:sym typeface="Times New Roman"/>
              </a:rPr>
              <a:t> • Add advanced revenue and sales reports.</a:t>
            </a:r>
          </a:p>
          <a:p>
            <a:pPr algn="l">
              <a:lnSpc>
                <a:spcPts val="6675"/>
              </a:lnSpc>
            </a:pPr>
          </a:p>
        </p:txBody>
      </p:sp>
      <p:sp>
        <p:nvSpPr>
          <p:cNvPr name="TextBox 5" id="5"/>
          <p:cNvSpPr txBox="true"/>
          <p:nvPr/>
        </p:nvSpPr>
        <p:spPr>
          <a:xfrm rot="0">
            <a:off x="4495121" y="282653"/>
            <a:ext cx="7768828"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FUT</a:t>
            </a:r>
            <a:r>
              <a:rPr lang="en-US" b="true" sz="7950">
                <a:solidFill>
                  <a:srgbClr val="0C5BA6"/>
                </a:solidFill>
                <a:latin typeface="Times New Roman Bold"/>
                <a:ea typeface="Times New Roman Bold"/>
                <a:cs typeface="Times New Roman Bold"/>
                <a:sym typeface="Times New Roman Bold"/>
              </a:rPr>
              <a:t>URE SCOPE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19542" y="0"/>
            <a:ext cx="1283876" cy="1081785"/>
          </a:xfrm>
          <a:custGeom>
            <a:avLst/>
            <a:gdLst/>
            <a:ahLst/>
            <a:cxnLst/>
            <a:rect r="r" b="b" t="t" l="l"/>
            <a:pathLst>
              <a:path h="1081785" w="1283876">
                <a:moveTo>
                  <a:pt x="0" y="0"/>
                </a:moveTo>
                <a:lnTo>
                  <a:pt x="1283876" y="0"/>
                </a:lnTo>
                <a:lnTo>
                  <a:pt x="1283876" y="1081785"/>
                </a:lnTo>
                <a:lnTo>
                  <a:pt x="0" y="1081785"/>
                </a:lnTo>
                <a:lnTo>
                  <a:pt x="0" y="0"/>
                </a:lnTo>
                <a:close/>
              </a:path>
            </a:pathLst>
          </a:custGeom>
          <a:blipFill>
            <a:blip r:embed="rId2"/>
            <a:stretch>
              <a:fillRect l="0" t="0" r="0" b="0"/>
            </a:stretch>
          </a:blipFill>
        </p:spPr>
      </p:sp>
      <p:sp>
        <p:nvSpPr>
          <p:cNvPr name="Freeform 3" id="3"/>
          <p:cNvSpPr/>
          <p:nvPr/>
        </p:nvSpPr>
        <p:spPr>
          <a:xfrm flipH="false" flipV="false" rot="0">
            <a:off x="0" y="0"/>
            <a:ext cx="1166051" cy="1141673"/>
          </a:xfrm>
          <a:custGeom>
            <a:avLst/>
            <a:gdLst/>
            <a:ahLst/>
            <a:cxnLst/>
            <a:rect r="r" b="b" t="t" l="l"/>
            <a:pathLst>
              <a:path h="1141673" w="1166051">
                <a:moveTo>
                  <a:pt x="0" y="0"/>
                </a:moveTo>
                <a:lnTo>
                  <a:pt x="1166051" y="0"/>
                </a:lnTo>
                <a:lnTo>
                  <a:pt x="1166051" y="1141673"/>
                </a:lnTo>
                <a:lnTo>
                  <a:pt x="0" y="1141673"/>
                </a:lnTo>
                <a:lnTo>
                  <a:pt x="0" y="0"/>
                </a:lnTo>
                <a:close/>
              </a:path>
            </a:pathLst>
          </a:custGeom>
          <a:blipFill>
            <a:blip r:embed="rId3"/>
            <a:stretch>
              <a:fillRect l="0" t="0" r="0" b="0"/>
            </a:stretch>
          </a:blipFill>
        </p:spPr>
      </p:sp>
      <p:sp>
        <p:nvSpPr>
          <p:cNvPr name="TextBox 4" id="4"/>
          <p:cNvSpPr txBox="true"/>
          <p:nvPr/>
        </p:nvSpPr>
        <p:spPr>
          <a:xfrm rot="0">
            <a:off x="0" y="2488336"/>
            <a:ext cx="19479090" cy="10068720"/>
          </a:xfrm>
          <a:prstGeom prst="rect">
            <a:avLst/>
          </a:prstGeom>
        </p:spPr>
        <p:txBody>
          <a:bodyPr anchor="t" rtlCol="false" tIns="0" lIns="0" bIns="0" rIns="0">
            <a:spAutoFit/>
          </a:bodyPr>
          <a:lstStyle/>
          <a:p>
            <a:pPr algn="l" marL="809625" indent="-404812" lvl="1">
              <a:lnSpc>
                <a:spcPts val="6675"/>
              </a:lnSpc>
              <a:buFont typeface="Arial"/>
              <a:buChar char="•"/>
            </a:pPr>
            <a:r>
              <a:rPr lang="en-US" sz="3750">
                <a:solidFill>
                  <a:srgbClr val="000D43"/>
                </a:solidFill>
                <a:latin typeface="Times New Roman"/>
                <a:ea typeface="Times New Roman"/>
                <a:cs typeface="Times New Roman"/>
                <a:sym typeface="Times New Roman"/>
              </a:rPr>
              <a:t>Developed an efficient Movie Ticket Booking System using Python and MySQL.</a:t>
            </a:r>
          </a:p>
          <a:p>
            <a:pPr algn="l" marL="809625" indent="-404812" lvl="1">
              <a:lnSpc>
                <a:spcPts val="6675"/>
              </a:lnSpc>
              <a:buFont typeface="Arial"/>
              <a:buChar char="•"/>
            </a:pPr>
            <a:r>
              <a:rPr lang="en-US" sz="3750">
                <a:solidFill>
                  <a:srgbClr val="000D43"/>
                </a:solidFill>
                <a:latin typeface="Times New Roman"/>
                <a:ea typeface="Times New Roman"/>
                <a:cs typeface="Times New Roman"/>
                <a:sym typeface="Times New Roman"/>
              </a:rPr>
              <a:t>Simplifies movie searching, ticket booking, and cancellation.</a:t>
            </a:r>
          </a:p>
          <a:p>
            <a:pPr algn="l" marL="809625" indent="-404812" lvl="1">
              <a:lnSpc>
                <a:spcPts val="6675"/>
              </a:lnSpc>
              <a:buFont typeface="Arial"/>
              <a:buChar char="•"/>
            </a:pPr>
            <a:r>
              <a:rPr lang="en-US" sz="3750">
                <a:solidFill>
                  <a:srgbClr val="000D43"/>
                </a:solidFill>
                <a:latin typeface="Times New Roman"/>
                <a:ea typeface="Times New Roman"/>
                <a:cs typeface="Times New Roman"/>
                <a:sym typeface="Times New Roman"/>
              </a:rPr>
              <a:t>Provides easy management of movie details and ticket prices.</a:t>
            </a:r>
          </a:p>
          <a:p>
            <a:pPr algn="l" marL="809625" indent="-404812" lvl="1">
              <a:lnSpc>
                <a:spcPts val="6675"/>
              </a:lnSpc>
              <a:buFont typeface="Arial"/>
              <a:buChar char="•"/>
            </a:pPr>
            <a:r>
              <a:rPr lang="en-US" sz="3750">
                <a:solidFill>
                  <a:srgbClr val="000D43"/>
                </a:solidFill>
                <a:latin typeface="Times New Roman"/>
                <a:ea typeface="Times New Roman"/>
                <a:cs typeface="Times New Roman"/>
                <a:sym typeface="Times New Roman"/>
              </a:rPr>
              <a:t>Allows users to order snacks and calculate snack costs.</a:t>
            </a:r>
          </a:p>
          <a:p>
            <a:pPr algn="l" marL="809625" indent="-404812" lvl="1">
              <a:lnSpc>
                <a:spcPts val="6675"/>
              </a:lnSpc>
              <a:buFont typeface="Arial"/>
              <a:buChar char="•"/>
            </a:pPr>
            <a:r>
              <a:rPr lang="en-US" sz="3750">
                <a:solidFill>
                  <a:srgbClr val="000D43"/>
                </a:solidFill>
                <a:latin typeface="Times New Roman"/>
                <a:ea typeface="Times New Roman"/>
                <a:cs typeface="Times New Roman"/>
                <a:sym typeface="Times New Roman"/>
              </a:rPr>
              <a:t>Generates a combined bill for movie tickets and snacks.</a:t>
            </a:r>
          </a:p>
          <a:p>
            <a:pPr algn="l" marL="809625" indent="-404812" lvl="1">
              <a:lnSpc>
                <a:spcPts val="6675"/>
              </a:lnSpc>
              <a:buFont typeface="Arial"/>
              <a:buChar char="•"/>
            </a:pPr>
            <a:r>
              <a:rPr lang="en-US" sz="3750">
                <a:solidFill>
                  <a:srgbClr val="000D43"/>
                </a:solidFill>
                <a:latin typeface="Times New Roman"/>
                <a:ea typeface="Times New Roman"/>
                <a:cs typeface="Times New Roman"/>
                <a:sym typeface="Times New Roman"/>
              </a:rPr>
              <a:t>Helps analyze booking data to identify the most-watched movies.</a:t>
            </a:r>
          </a:p>
          <a:p>
            <a:pPr algn="l" marL="809625" indent="-404812" lvl="1">
              <a:lnSpc>
                <a:spcPts val="6675"/>
              </a:lnSpc>
              <a:buFont typeface="Arial"/>
              <a:buChar char="•"/>
            </a:pPr>
            <a:r>
              <a:rPr lang="en-US" sz="3750">
                <a:solidFill>
                  <a:srgbClr val="000D43"/>
                </a:solidFill>
                <a:latin typeface="Times New Roman"/>
                <a:ea typeface="Times New Roman"/>
                <a:cs typeface="Times New Roman"/>
                <a:sym typeface="Times New Roman"/>
              </a:rPr>
              <a:t>Reduces manual work and improves accuracy in managing booking records.</a:t>
            </a:r>
          </a:p>
          <a:p>
            <a:pPr algn="l" marL="809625" indent="-404812" lvl="1">
              <a:lnSpc>
                <a:spcPts val="6675"/>
              </a:lnSpc>
              <a:buFont typeface="Arial"/>
              <a:buChar char="•"/>
            </a:pPr>
            <a:r>
              <a:rPr lang="en-US" sz="3750">
                <a:solidFill>
                  <a:srgbClr val="000D43"/>
                </a:solidFill>
                <a:latin typeface="Times New Roman"/>
                <a:ea typeface="Times New Roman"/>
                <a:cs typeface="Times New Roman"/>
                <a:sym typeface="Times New Roman"/>
              </a:rPr>
              <a:t>Demonstrates the practical use of Python–MySQL connectivity and database operations. </a:t>
            </a:r>
          </a:p>
          <a:p>
            <a:pPr algn="l">
              <a:lnSpc>
                <a:spcPts val="6675"/>
              </a:lnSpc>
            </a:pPr>
          </a:p>
          <a:p>
            <a:pPr algn="l">
              <a:lnSpc>
                <a:spcPts val="6675"/>
              </a:lnSpc>
            </a:pPr>
          </a:p>
          <a:p>
            <a:pPr algn="l">
              <a:lnSpc>
                <a:spcPts val="6675"/>
              </a:lnSpc>
            </a:pPr>
          </a:p>
          <a:p>
            <a:pPr algn="l">
              <a:lnSpc>
                <a:spcPts val="6675"/>
              </a:lnSpc>
            </a:pPr>
          </a:p>
        </p:txBody>
      </p:sp>
      <p:sp>
        <p:nvSpPr>
          <p:cNvPr name="TextBox 5" id="5"/>
          <p:cNvSpPr txBox="true"/>
          <p:nvPr/>
        </p:nvSpPr>
        <p:spPr>
          <a:xfrm rot="0">
            <a:off x="5722193" y="97582"/>
            <a:ext cx="6843614" cy="1398237"/>
          </a:xfrm>
          <a:prstGeom prst="rect">
            <a:avLst/>
          </a:prstGeom>
        </p:spPr>
        <p:txBody>
          <a:bodyPr anchor="t" rtlCol="false" tIns="0" lIns="0" bIns="0" rIns="0">
            <a:spAutoFit/>
          </a:bodyPr>
          <a:lstStyle/>
          <a:p>
            <a:pPr algn="ctr">
              <a:lnSpc>
                <a:spcPts val="11130"/>
              </a:lnSpc>
              <a:spcBef>
                <a:spcPct val="0"/>
              </a:spcBef>
            </a:pPr>
            <a:r>
              <a:rPr lang="en-US" b="true" sz="7950">
                <a:solidFill>
                  <a:srgbClr val="0C5BA6"/>
                </a:solidFill>
                <a:latin typeface="Times New Roman Bold"/>
                <a:ea typeface="Times New Roman Bold"/>
                <a:cs typeface="Times New Roman Bold"/>
                <a:sym typeface="Times New Roman Bold"/>
              </a:rPr>
              <a:t>CONCLUSION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36083" y="79270"/>
            <a:ext cx="1269415" cy="1069600"/>
          </a:xfrm>
          <a:custGeom>
            <a:avLst/>
            <a:gdLst/>
            <a:ahLst/>
            <a:cxnLst/>
            <a:rect r="r" b="b" t="t" l="l"/>
            <a:pathLst>
              <a:path h="1069600" w="1269415">
                <a:moveTo>
                  <a:pt x="0" y="0"/>
                </a:moveTo>
                <a:lnTo>
                  <a:pt x="1269415" y="0"/>
                </a:lnTo>
                <a:lnTo>
                  <a:pt x="1269415" y="1069600"/>
                </a:lnTo>
                <a:lnTo>
                  <a:pt x="0" y="1069600"/>
                </a:lnTo>
                <a:lnTo>
                  <a:pt x="0" y="0"/>
                </a:lnTo>
                <a:close/>
              </a:path>
            </a:pathLst>
          </a:custGeom>
          <a:blipFill>
            <a:blip r:embed="rId2"/>
            <a:stretch>
              <a:fillRect l="0" t="0" r="0" b="0"/>
            </a:stretch>
          </a:blipFill>
        </p:spPr>
      </p:sp>
      <p:sp>
        <p:nvSpPr>
          <p:cNvPr name="Freeform 3" id="3"/>
          <p:cNvSpPr/>
          <p:nvPr/>
        </p:nvSpPr>
        <p:spPr>
          <a:xfrm flipH="false" flipV="false" rot="0">
            <a:off x="205990" y="79270"/>
            <a:ext cx="1152917" cy="1128814"/>
          </a:xfrm>
          <a:custGeom>
            <a:avLst/>
            <a:gdLst/>
            <a:ahLst/>
            <a:cxnLst/>
            <a:rect r="r" b="b" t="t" l="l"/>
            <a:pathLst>
              <a:path h="1128814" w="1152917">
                <a:moveTo>
                  <a:pt x="0" y="0"/>
                </a:moveTo>
                <a:lnTo>
                  <a:pt x="1152917" y="0"/>
                </a:lnTo>
                <a:lnTo>
                  <a:pt x="1152917" y="1128814"/>
                </a:lnTo>
                <a:lnTo>
                  <a:pt x="0" y="1128814"/>
                </a:lnTo>
                <a:lnTo>
                  <a:pt x="0" y="0"/>
                </a:lnTo>
                <a:close/>
              </a:path>
            </a:pathLst>
          </a:custGeom>
          <a:blipFill>
            <a:blip r:embed="rId3"/>
            <a:stretch>
              <a:fillRect l="0" t="0" r="0" b="0"/>
            </a:stretch>
          </a:blipFill>
        </p:spPr>
      </p:sp>
      <p:sp>
        <p:nvSpPr>
          <p:cNvPr name="TextBox 4" id="4"/>
          <p:cNvSpPr txBox="true"/>
          <p:nvPr/>
        </p:nvSpPr>
        <p:spPr>
          <a:xfrm rot="0">
            <a:off x="6647955" y="373087"/>
            <a:ext cx="4525698" cy="932158"/>
          </a:xfrm>
          <a:prstGeom prst="rect">
            <a:avLst/>
          </a:prstGeom>
        </p:spPr>
        <p:txBody>
          <a:bodyPr anchor="t" rtlCol="false" tIns="0" lIns="0" bIns="0" rIns="0">
            <a:spAutoFit/>
          </a:bodyPr>
          <a:lstStyle/>
          <a:p>
            <a:pPr algn="ctr">
              <a:lnSpc>
                <a:spcPts val="7420"/>
              </a:lnSpc>
              <a:spcBef>
                <a:spcPct val="0"/>
              </a:spcBef>
            </a:pPr>
            <a:r>
              <a:rPr lang="en-US" b="true" sz="5300">
                <a:solidFill>
                  <a:srgbClr val="0C5BA6"/>
                </a:solidFill>
                <a:latin typeface="Times New Roman Bold"/>
                <a:ea typeface="Times New Roman Bold"/>
                <a:cs typeface="Times New Roman Bold"/>
                <a:sym typeface="Times New Roman Bold"/>
              </a:rPr>
              <a:t>REFERENCES</a:t>
            </a:r>
          </a:p>
        </p:txBody>
      </p:sp>
      <p:sp>
        <p:nvSpPr>
          <p:cNvPr name="TextBox 5" id="5"/>
          <p:cNvSpPr txBox="true"/>
          <p:nvPr/>
        </p:nvSpPr>
        <p:spPr>
          <a:xfrm rot="0">
            <a:off x="985525" y="2182406"/>
            <a:ext cx="15850558" cy="6565239"/>
          </a:xfrm>
          <a:prstGeom prst="rect">
            <a:avLst/>
          </a:prstGeom>
        </p:spPr>
        <p:txBody>
          <a:bodyPr anchor="t" rtlCol="false" tIns="0" lIns="0" bIns="0" rIns="0">
            <a:spAutoFit/>
          </a:bodyPr>
          <a:lstStyle/>
          <a:p>
            <a:pPr algn="just" marL="539749" indent="-269875" lvl="1">
              <a:lnSpc>
                <a:spcPts val="3499"/>
              </a:lnSpc>
              <a:buAutoNum type="arabicPeriod" startAt="1"/>
            </a:pPr>
            <a:r>
              <a:rPr lang="en-US" sz="2499">
                <a:solidFill>
                  <a:srgbClr val="000000"/>
                </a:solidFill>
                <a:latin typeface="Times New Roman"/>
                <a:ea typeface="Times New Roman"/>
                <a:cs typeface="Times New Roman"/>
                <a:sym typeface="Times New Roman"/>
              </a:rPr>
              <a:t>A. N. Mhetre, M. Kadam, and S. Kalambe, “A Survey on Modern Online Ticket Booking Systems,” International Journal of Scientific Research in Computer Science, Engineering and Information Technology, vol. 10, no. 6, pp. 981–987, 2024. DOI: 10.32628/CSEIT2410460.</a:t>
            </a:r>
          </a:p>
          <a:p>
            <a:pPr algn="just">
              <a:lnSpc>
                <a:spcPts val="3499"/>
              </a:lnSpc>
            </a:pPr>
            <a:r>
              <a:rPr lang="en-US" sz="2499">
                <a:solidFill>
                  <a:srgbClr val="000000"/>
                </a:solidFill>
                <a:latin typeface="Times New Roman"/>
                <a:ea typeface="Times New Roman"/>
                <a:cs typeface="Times New Roman"/>
                <a:sym typeface="Times New Roman"/>
              </a:rPr>
              <a:t> </a:t>
            </a:r>
          </a:p>
          <a:p>
            <a:pPr algn="just" marL="539749" indent="-269875" lvl="1">
              <a:lnSpc>
                <a:spcPts val="3499"/>
              </a:lnSpc>
              <a:buAutoNum type="arabicPeriod" startAt="1"/>
            </a:pPr>
            <a:r>
              <a:rPr lang="en-US" sz="2499">
                <a:solidFill>
                  <a:srgbClr val="000000"/>
                </a:solidFill>
                <a:latin typeface="Times New Roman"/>
                <a:ea typeface="Times New Roman"/>
                <a:cs typeface="Times New Roman"/>
                <a:sym typeface="Times New Roman"/>
              </a:rPr>
              <a:t>O. Thakre, A. Pawar, S. Raut, S. Kharge, and A. Shaik, “A Project on Booking Movie Online Ticket System,” International Journal of Innovative Science and Research Technology, vol. 9, issue 3, 2024. DOI: 10.38124/ijisrt/24mar1247. </a:t>
            </a:r>
          </a:p>
          <a:p>
            <a:pPr algn="just">
              <a:lnSpc>
                <a:spcPts val="3499"/>
              </a:lnSpc>
            </a:pPr>
          </a:p>
          <a:p>
            <a:pPr algn="just" marL="539749" indent="-269875" lvl="1">
              <a:lnSpc>
                <a:spcPts val="3499"/>
              </a:lnSpc>
              <a:buAutoNum type="arabicPeriod" startAt="1"/>
            </a:pPr>
            <a:r>
              <a:rPr lang="en-US" sz="2499">
                <a:solidFill>
                  <a:srgbClr val="000000"/>
                </a:solidFill>
                <a:latin typeface="Times New Roman"/>
                <a:ea typeface="Times New Roman"/>
                <a:cs typeface="Times New Roman"/>
                <a:sym typeface="Times New Roman"/>
              </a:rPr>
              <a:t>K. Acharya, “A Case Study on Online Ticket Booking System Project,” SSRN, 2024. DOI: 10.2139/ssrn.4841210. </a:t>
            </a:r>
          </a:p>
          <a:p>
            <a:pPr algn="just">
              <a:lnSpc>
                <a:spcPts val="3499"/>
              </a:lnSpc>
            </a:pPr>
          </a:p>
          <a:p>
            <a:pPr algn="just" marL="539749" indent="-269875" lvl="1">
              <a:lnSpc>
                <a:spcPts val="3499"/>
              </a:lnSpc>
              <a:buAutoNum type="arabicPeriod" startAt="1"/>
            </a:pPr>
            <a:r>
              <a:rPr lang="en-US" sz="2499">
                <a:solidFill>
                  <a:srgbClr val="000000"/>
                </a:solidFill>
                <a:latin typeface="Times New Roman"/>
                <a:ea typeface="Times New Roman"/>
                <a:cs typeface="Times New Roman"/>
                <a:sym typeface="Times New Roman"/>
              </a:rPr>
              <a:t>A. Roy, V. Shahdeo, and R. Kaluri, “A Comparative Study in Online Movie Ticket Booking System,” 2021. This work is also listed in the reference section of Mhetre et al.'s 2024 survey. </a:t>
            </a:r>
          </a:p>
          <a:p>
            <a:pPr algn="just">
              <a:lnSpc>
                <a:spcPts val="3499"/>
              </a:lnSpc>
            </a:pPr>
          </a:p>
          <a:p>
            <a:pPr algn="just">
              <a:lnSpc>
                <a:spcPts val="3499"/>
              </a:lnSpc>
            </a:pPr>
            <a:r>
              <a:rPr lang="en-US" sz="2499">
                <a:solidFill>
                  <a:srgbClr val="000000"/>
                </a:solidFill>
                <a:latin typeface="Times New Roman"/>
                <a:ea typeface="Times New Roman"/>
                <a:cs typeface="Times New Roman"/>
                <a:sym typeface="Times New Roman"/>
              </a:rPr>
              <a:t>5.</a:t>
            </a:r>
            <a:r>
              <a:rPr lang="en-US" sz="2499">
                <a:solidFill>
                  <a:srgbClr val="000000"/>
                </a:solidFill>
                <a:latin typeface="Times New Roman"/>
                <a:ea typeface="Times New Roman"/>
                <a:cs typeface="Times New Roman"/>
                <a:sym typeface="Times New Roman"/>
              </a:rPr>
              <a:t>B. Harshitha, P. B. S. Jyothi, K. L. Phanindra, T. P. Venkat, and B. T. S. S. Srihari Krishna Gopal, “Movie Ticket Booking System for Multiplex Theatre: A Conceptual Framework for Design, Architecture, and User Experience.”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36083" y="79270"/>
            <a:ext cx="1269415" cy="1069600"/>
          </a:xfrm>
          <a:custGeom>
            <a:avLst/>
            <a:gdLst/>
            <a:ahLst/>
            <a:cxnLst/>
            <a:rect r="r" b="b" t="t" l="l"/>
            <a:pathLst>
              <a:path h="1069600" w="1269415">
                <a:moveTo>
                  <a:pt x="0" y="0"/>
                </a:moveTo>
                <a:lnTo>
                  <a:pt x="1269415" y="0"/>
                </a:lnTo>
                <a:lnTo>
                  <a:pt x="1269415" y="1069600"/>
                </a:lnTo>
                <a:lnTo>
                  <a:pt x="0" y="1069600"/>
                </a:lnTo>
                <a:lnTo>
                  <a:pt x="0" y="0"/>
                </a:lnTo>
                <a:close/>
              </a:path>
            </a:pathLst>
          </a:custGeom>
          <a:blipFill>
            <a:blip r:embed="rId2"/>
            <a:stretch>
              <a:fillRect l="0" t="0" r="0" b="0"/>
            </a:stretch>
          </a:blipFill>
        </p:spPr>
      </p:sp>
      <p:sp>
        <p:nvSpPr>
          <p:cNvPr name="Freeform 3" id="3"/>
          <p:cNvSpPr/>
          <p:nvPr/>
        </p:nvSpPr>
        <p:spPr>
          <a:xfrm flipH="false" flipV="false" rot="0">
            <a:off x="205990" y="79270"/>
            <a:ext cx="1152917" cy="1128814"/>
          </a:xfrm>
          <a:custGeom>
            <a:avLst/>
            <a:gdLst/>
            <a:ahLst/>
            <a:cxnLst/>
            <a:rect r="r" b="b" t="t" l="l"/>
            <a:pathLst>
              <a:path h="1128814" w="1152917">
                <a:moveTo>
                  <a:pt x="0" y="0"/>
                </a:moveTo>
                <a:lnTo>
                  <a:pt x="1152917" y="0"/>
                </a:lnTo>
                <a:lnTo>
                  <a:pt x="1152917" y="1128814"/>
                </a:lnTo>
                <a:lnTo>
                  <a:pt x="0" y="1128814"/>
                </a:lnTo>
                <a:lnTo>
                  <a:pt x="0" y="0"/>
                </a:lnTo>
                <a:close/>
              </a:path>
            </a:pathLst>
          </a:custGeom>
          <a:blipFill>
            <a:blip r:embed="rId3"/>
            <a:stretch>
              <a:fillRect l="0" t="0" r="0" b="0"/>
            </a:stretch>
          </a:blipFill>
        </p:spPr>
      </p:sp>
      <p:sp>
        <p:nvSpPr>
          <p:cNvPr name="TextBox 4" id="4"/>
          <p:cNvSpPr txBox="true"/>
          <p:nvPr/>
        </p:nvSpPr>
        <p:spPr>
          <a:xfrm rot="0">
            <a:off x="2323859" y="3656323"/>
            <a:ext cx="13640283" cy="2621929"/>
          </a:xfrm>
          <a:prstGeom prst="rect">
            <a:avLst/>
          </a:prstGeom>
        </p:spPr>
        <p:txBody>
          <a:bodyPr anchor="t" rtlCol="false" tIns="0" lIns="0" bIns="0" rIns="0">
            <a:spAutoFit/>
          </a:bodyPr>
          <a:lstStyle/>
          <a:p>
            <a:pPr algn="ctr">
              <a:lnSpc>
                <a:spcPts val="20858"/>
              </a:lnSpc>
            </a:pPr>
            <a:r>
              <a:rPr lang="en-US" sz="14898" b="true">
                <a:solidFill>
                  <a:srgbClr val="0C5BA6"/>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DAHRz-Eb8h4</dc:identifier>
  <dcterms:modified xsi:type="dcterms:W3CDTF">2011-08-01T06:04:30Z</dcterms:modified>
  <cp:revision>1</cp:revision>
  <dc:title>MOVIE TICKET BOOKING SYSTEM</dc:title>
</cp:coreProperties>
</file>